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147478754" r:id="rId4"/>
    <p:sldId id="258" r:id="rId5"/>
    <p:sldId id="259" r:id="rId6"/>
    <p:sldId id="266" r:id="rId7"/>
    <p:sldId id="261" r:id="rId8"/>
    <p:sldId id="262" r:id="rId9"/>
    <p:sldId id="263" r:id="rId10"/>
    <p:sldId id="264" r:id="rId11"/>
    <p:sldId id="268" r:id="rId12"/>
    <p:sldId id="265" r:id="rId13"/>
    <p:sldId id="267" r:id="rId14"/>
  </p:sldIdLst>
  <p:sldSz cx="9144000" cy="5143500" type="screen16x9"/>
  <p:notesSz cx="6858000" cy="91440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9553C86-EB9D-43D3-BDB6-63D987C21CFA}" styleName="表样式 1 14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4"/>
              </a:solidFill>
              <a:prstDash val="solid"/>
            </a:ln>
          </a:left>
          <a:right>
            <a:ln w="12700" cmpd="sng">
              <a:solidFill>
                <a:schemeClr val="accent4"/>
              </a:solidFill>
              <a:prstDash val="solid"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4">
              <a:lumMod val="40000"/>
              <a:lumOff val="60000"/>
              <a:alpha val="25000"/>
            </a:schemeClr>
          </a:solidFill>
        </a:fill>
      </a:tcStyle>
    </a:band2H>
    <a:band1V>
      <a:tcTxStyle/>
      <a:tcStyle>
        <a:tcBdr/>
        <a:fill>
          <a:solidFill>
            <a:schemeClr val="accent4">
              <a:lumMod val="40000"/>
              <a:lumOff val="60000"/>
              <a:alpha val="25000"/>
            </a:schemeClr>
          </a:solidFill>
        </a:fill>
      </a:tcStyle>
    </a:band1V>
    <a:band2V>
      <a:tcTxStyle>
        <a:fontRef idx="none">
          <a:prstClr val="black"/>
        </a:fontRef>
      </a:tcTxStyle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4"/>
              </a:solidFill>
              <a:prstDash val="solid"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4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accent4"/>
        </a:fontRef>
      </a:tcTxStyle>
      <a:tcStyle>
        <a:tcBdr>
          <a:left>
            <a:ln w="12700" cmpd="sng">
              <a:solidFill>
                <a:schemeClr val="accent4"/>
              </a:solidFill>
              <a:prstDash val="solid"/>
            </a:ln>
          </a:left>
          <a:right>
            <a:ln w="12700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 w="12700" cmpd="sng">
              <a:solidFill>
                <a:schemeClr val="accent4"/>
              </a:solidFill>
              <a:prstDash val="solid"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/>
      <a:tcStyle>
        <a:tcBdr>
          <a:left>
            <a:ln w="12700" cmpd="sng">
              <a:solidFill>
                <a:schemeClr val="accent4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accent4"/>
        </a:fontRef>
      </a:tcTxStyle>
      <a:tcStyle>
        <a:tcBdr>
          <a:left>
            <a:ln w="12700" cmpd="sng">
              <a:solidFill>
                <a:schemeClr val="accent4"/>
              </a:solidFill>
              <a:prstDash val="solid"/>
            </a:ln>
          </a:left>
          <a:right>
            <a:ln w="12700" cmpd="sng">
              <a:solidFill>
                <a:schemeClr val="accent4"/>
              </a:solidFill>
              <a:prstDash val="solid"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9525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40000"/>
              <a:lumOff val="60000"/>
              <a:alpha val="50000"/>
            </a:schemeClr>
          </a:solidFill>
        </a:fill>
      </a:tcStyle>
    </a:firstRow>
  </a:tblStyle>
  <a:tblStyle styleId="{D2C9F371-FA0A-45CC-9C24-CDDB537A001E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4">
              <a:lumMod val="10000"/>
              <a:lumOff val="90000"/>
            </a:scheme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4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4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4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4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>
        <p:guide orient="horz" pos="1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7b515c8b0_6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b7b515c8b0_6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b7b515c8b0_6_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ef3492d6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ef3492d6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6de940afc_2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6de940afc_2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6de940afc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6de940afc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DC14E5-DD3A-6B98-461E-98A6330E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de940afc_2_0:notes">
            <a:extLst>
              <a:ext uri="{FF2B5EF4-FFF2-40B4-BE49-F238E27FC236}">
                <a16:creationId xmlns:a16="http://schemas.microsoft.com/office/drawing/2014/main" id="{FAAC8AE3-ABA7-2B1F-3E02-5A66EE2C4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de940afc_2_0:notes">
            <a:extLst>
              <a:ext uri="{FF2B5EF4-FFF2-40B4-BE49-F238E27FC236}">
                <a16:creationId xmlns:a16="http://schemas.microsoft.com/office/drawing/2014/main" id="{434E0490-6DCA-DF29-9EF5-1B2AE259F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1255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de940af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6de940af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6de940afc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6de940afc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6de940afc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6de940afc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6de940afc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6de940afc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85ac7f42d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b85ac7f42d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BAB5366-DC05-C05B-AFE6-5AB07F7B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6de940afc_1_28:notes">
            <a:extLst>
              <a:ext uri="{FF2B5EF4-FFF2-40B4-BE49-F238E27FC236}">
                <a16:creationId xmlns:a16="http://schemas.microsoft.com/office/drawing/2014/main" id="{1719A537-0272-F126-0F98-4C2F88651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6de940afc_1_28:notes">
            <a:extLst>
              <a:ext uri="{FF2B5EF4-FFF2-40B4-BE49-F238E27FC236}">
                <a16:creationId xmlns:a16="http://schemas.microsoft.com/office/drawing/2014/main" id="{E0537B54-486E-1998-17D3-F933A3046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513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4DB0592-2840-4E23-8FCC-02DBF629D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6de940afc_1_28:notes">
            <a:extLst>
              <a:ext uri="{FF2B5EF4-FFF2-40B4-BE49-F238E27FC236}">
                <a16:creationId xmlns:a16="http://schemas.microsoft.com/office/drawing/2014/main" id="{D9004329-D148-81BB-76D9-454464068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6de940afc_1_28:notes">
            <a:extLst>
              <a:ext uri="{FF2B5EF4-FFF2-40B4-BE49-F238E27FC236}">
                <a16:creationId xmlns:a16="http://schemas.microsoft.com/office/drawing/2014/main" id="{77959B71-2DCE-3185-6D42-87DA92801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image" Target="../media/image2.emf"/><Relationship Id="rId4" Type="http://schemas.openxmlformats.org/officeDocument/2006/relationships/tags" Target="../tags/tag5.xml"/><Relationship Id="rId9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056244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D3A330D-704F-4050-81F6-50A136E7860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225"/>
              </a:spcBef>
              <a:spcAft>
                <a:spcPts val="225"/>
              </a:spcAft>
            </a:pPr>
            <a:endParaRPr lang="en-US" sz="1875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3" name="2. Slide Title">
            <a:extLst>
              <a:ext uri="{FF2B5EF4-FFF2-40B4-BE49-F238E27FC236}">
                <a16:creationId xmlns:a16="http://schemas.microsoft.com/office/drawing/2014/main" id="{5C829ED6-90BF-4B02-AD53-C2B66EC5467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16052" y="129159"/>
            <a:ext cx="8311896" cy="548640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0F8ABF34-9C24-45F4-B9AE-EDBE37FAC54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416052" y="689438"/>
            <a:ext cx="8311896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b="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8484394" y="4874066"/>
            <a:ext cx="244126" cy="1038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458058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675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458058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75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416052" y="4876252"/>
            <a:ext cx="5458396" cy="9233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sz="600"/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0364ABB4-AE33-4DE9-A20C-DBDBFEC0CA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416051" y="31198"/>
            <a:ext cx="2882504" cy="92333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6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64601861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/>
          <p:nvPr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/>
          <p:nvPr/>
        </p:nvSpPr>
        <p:spPr>
          <a:xfrm>
            <a:off x="324874" y="-358"/>
            <a:ext cx="5065738" cy="5143859"/>
          </a:xfrm>
          <a:custGeom>
            <a:avLst/>
            <a:gdLst/>
            <a:ahLst/>
            <a:cxnLst/>
            <a:rect l="l" t="t" r="r" b="b"/>
            <a:pathLst>
              <a:path w="6754318" h="6858478" extrusionOk="0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rgbClr val="262626">
              <a:alpha val="69803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0" y="-358"/>
            <a:ext cx="4790210" cy="5143859"/>
          </a:xfrm>
          <a:custGeom>
            <a:avLst/>
            <a:gdLst/>
            <a:ahLst/>
            <a:cxnLst/>
            <a:rect l="l" t="t" r="r" b="b"/>
            <a:pathLst>
              <a:path w="6386947" h="6858478" extrusionOk="0">
                <a:moveTo>
                  <a:pt x="433167" y="0"/>
                </a:moveTo>
                <a:lnTo>
                  <a:pt x="2138767" y="0"/>
                </a:lnTo>
                <a:lnTo>
                  <a:pt x="3204995" y="0"/>
                </a:lnTo>
                <a:lnTo>
                  <a:pt x="3210572" y="0"/>
                </a:lnTo>
                <a:lnTo>
                  <a:pt x="6386947" y="6858478"/>
                </a:lnTo>
                <a:lnTo>
                  <a:pt x="1832610" y="6858478"/>
                </a:lnTo>
                <a:lnTo>
                  <a:pt x="433167" y="6858478"/>
                </a:lnTo>
                <a:lnTo>
                  <a:pt x="0" y="6858478"/>
                </a:lnTo>
                <a:lnTo>
                  <a:pt x="0" y="478"/>
                </a:lnTo>
                <a:lnTo>
                  <a:pt x="433167" y="478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 txBox="1">
            <a:spLocks noGrp="1"/>
          </p:cNvSpPr>
          <p:nvPr>
            <p:ph type="ctrTitle"/>
          </p:nvPr>
        </p:nvSpPr>
        <p:spPr>
          <a:xfrm>
            <a:off x="324372" y="2114940"/>
            <a:ext cx="2788521" cy="168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zh-CN" sz="3800">
                <a:solidFill>
                  <a:schemeClr val="bg1"/>
                </a:solidFill>
              </a:rPr>
              <a:t>BS6206 Experiential Data Science</a:t>
            </a:r>
            <a:br>
              <a:rPr lang="zh-CN" sz="3800" dirty="0">
                <a:solidFill>
                  <a:schemeClr val="bg1"/>
                </a:solidFill>
              </a:rPr>
            </a:br>
            <a:r>
              <a:rPr lang="zh-CN" sz="2400">
                <a:solidFill>
                  <a:schemeClr val="bg1"/>
                </a:solidFill>
              </a:rPr>
              <a:t>Group 2​</a:t>
            </a:r>
            <a:br>
              <a:rPr lang="en-US" altLang="zh-CN" sz="2400">
                <a:solidFill>
                  <a:schemeClr val="bg1"/>
                </a:solidFill>
              </a:rPr>
            </a:br>
            <a:r>
              <a:rPr lang="en-US" altLang="zh-CN" sz="2400">
                <a:solidFill>
                  <a:schemeClr val="bg1"/>
                </a:solidFill>
              </a:rPr>
              <a:t>Final Presentation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9" name="Google Shape;139;p26"/>
          <p:cNvSpPr txBox="1">
            <a:spLocks noGrp="1"/>
          </p:cNvSpPr>
          <p:nvPr>
            <p:ph type="subTitle" idx="1"/>
          </p:nvPr>
        </p:nvSpPr>
        <p:spPr>
          <a:xfrm>
            <a:off x="325237" y="1287351"/>
            <a:ext cx="2327591" cy="445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zh-CN" sz="1500">
                <a:solidFill>
                  <a:schemeClr val="bg1"/>
                </a:solidFill>
              </a:rPr>
              <a:t>Master of Science in Biomedical Data Science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13693" y="1091167"/>
            <a:ext cx="4038946" cy="14805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5509766" y="3204225"/>
            <a:ext cx="3064431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ea typeface="Calibri"/>
                <a:sym typeface="Calibri"/>
              </a:rPr>
              <a:t>Group members: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ea typeface="Calibri"/>
                <a:sym typeface="Calibri"/>
              </a:rPr>
              <a:t>Vu Kun Seng , Qian Hongye, Li Donghao,  Zhao Zeyu</a:t>
            </a:r>
            <a:endParaRPr>
              <a:ea typeface="Calibri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A544D044-2692-C2D6-A019-C3AB83D3CF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226566E-7ED4-91DD-CA4D-7CDBA6E30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23166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dirty="0">
                <a:solidFill>
                  <a:schemeClr val="bg1"/>
                </a:solidFill>
                <a:latin typeface="Calibri"/>
                <a:cs typeface="Calibri"/>
              </a:rPr>
              <a:t>Content</a:t>
            </a:r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1351106" y="784042"/>
            <a:ext cx="5311775" cy="27997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 eaLnBrk="1" fontAlgn="auto" latinLnBrk="0" hangingPunct="1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1. Background and Goals</a:t>
            </a:r>
            <a:endParaRPr lang="zh-CN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lv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2. </a:t>
            </a:r>
            <a:r>
              <a:rPr lang="zh-CN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The Executive Summary</a:t>
            </a:r>
            <a:endParaRPr lang="zh-CN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lv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3. U</a:t>
            </a:r>
            <a:r>
              <a:rPr lang="zh-CN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ser profiles</a:t>
            </a: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introduction</a:t>
            </a:r>
            <a:endParaRPr lang="zh-CN" altLang="en-US" sz="2400" b="1" dirty="0">
              <a:solidFill>
                <a:schemeClr val="dk1"/>
              </a:solidFill>
              <a:latin typeface="Calibri" panose="020F0502020204030204"/>
              <a:cs typeface="Calibri" panose="020F0502020204030204"/>
            </a:endParaRPr>
          </a:p>
          <a:p>
            <a:pPr marL="0" lv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4. </a:t>
            </a:r>
            <a:r>
              <a:rPr lang="en-GB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User profiles’ </a:t>
            </a:r>
            <a:r>
              <a:rPr lang="en-GB" altLang="zh-CN" sz="2400" b="1" dirty="0" err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bussiness</a:t>
            </a:r>
            <a:r>
              <a:rPr lang="en-GB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strategies</a:t>
            </a:r>
            <a:endParaRPr lang="zh-CN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lv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5. </a:t>
            </a:r>
            <a:r>
              <a:rPr lang="zh-CN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Retention strategy</a:t>
            </a:r>
            <a:endParaRPr lang="en-US" altLang="zh-CN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0" lvl="0">
              <a:lnSpc>
                <a:spcPct val="150000"/>
              </a:lnSpc>
              <a:spcBef>
                <a:spcPts val="1200"/>
              </a:spcBef>
              <a:buNone/>
            </a:pPr>
            <a:r>
              <a:rPr lang="en-US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6.</a:t>
            </a:r>
            <a:r>
              <a:rPr lang="zh-CN" altLang="zh-CN" sz="24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Conclusions</a:t>
            </a:r>
            <a:endParaRPr lang="zh-CN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19785" y="4606544"/>
            <a:ext cx="38544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42618" y="1812417"/>
            <a:ext cx="407062" cy="407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3"/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842622" y="2520230"/>
            <a:ext cx="395605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3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801002" y="3227532"/>
            <a:ext cx="448946" cy="35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/>
          <p:cNvPicPr preferRelativeResize="0"/>
          <p:nvPr/>
        </p:nvPicPr>
        <p:blipFill>
          <a:blip r:embed="rId7"/>
          <a:stretch>
            <a:fillRect/>
          </a:stretch>
        </p:blipFill>
        <p:spPr>
          <a:xfrm>
            <a:off x="819785" y="3924590"/>
            <a:ext cx="429895" cy="32575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C09DD6-0990-E820-A474-5CE3F9621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2</a:t>
            </a:fld>
            <a:endParaRPr lang="zh-CN" altLang="en-US"/>
          </a:p>
        </p:txBody>
      </p:sp>
      <p:pic>
        <p:nvPicPr>
          <p:cNvPr id="4" name="图片 3" descr="卡通人物&#10;&#10;AI 生成的内容可能不正确。">
            <a:extLst>
              <a:ext uri="{FF2B5EF4-FFF2-40B4-BE49-F238E27FC236}">
                <a16:creationId xmlns:a16="http://schemas.microsoft.com/office/drawing/2014/main" id="{72CF278E-D804-1531-85C6-CA40AE27ED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002" y="1113795"/>
            <a:ext cx="466465" cy="4664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1ED5ED-08D2-3F8F-0A8C-A6CB736BD665}"/>
              </a:ext>
            </a:extLst>
          </p:cNvPr>
          <p:cNvSpPr/>
          <p:nvPr/>
        </p:nvSpPr>
        <p:spPr>
          <a:xfrm>
            <a:off x="358551" y="1162530"/>
            <a:ext cx="3255065" cy="1823829"/>
          </a:xfrm>
          <a:prstGeom prst="roundRect">
            <a:avLst/>
          </a:prstGeom>
          <a:solidFill>
            <a:schemeClr val="tx2">
              <a:lumMod val="95000"/>
            </a:schemeClr>
          </a:solidFill>
          <a:ln w="12700" cap="sq">
            <a:solidFill>
              <a:schemeClr val="bg2">
                <a:lumMod val="8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225"/>
              </a:spcBef>
              <a:spcAft>
                <a:spcPts val="225"/>
              </a:spcAft>
            </a:pPr>
            <a:endParaRPr lang="zh-CN" altLang="en-US" sz="1200" err="1">
              <a:solidFill>
                <a:schemeClr val="bg1"/>
              </a:solidFill>
            </a:endParaRP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BE55042-88D2-22E7-339C-BCB5D69474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E55042-88D2-22E7-339C-BCB5D69474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C570C4C-1DD4-F529-ECAF-417537327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84" y="294545"/>
            <a:ext cx="6866061" cy="548640"/>
          </a:xfrm>
        </p:spPr>
        <p:txBody>
          <a:bodyPr vert="horz"/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00" b="1" dirty="0" err="1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QLab</a:t>
            </a:r>
            <a:r>
              <a:rPr lang="en-US" sz="2500" b="1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 Tea: </a:t>
            </a:r>
            <a:br>
              <a:rPr lang="en-US" sz="2500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</a:br>
            <a:r>
              <a:rPr lang="en-US" sz="1900" b="1" dirty="0">
                <a:solidFill>
                  <a:schemeClr val="bg1"/>
                </a:solidFill>
                <a:latin typeface="+mj-lt"/>
                <a:ea typeface="Calibri"/>
                <a:cs typeface="Calibri"/>
              </a:rPr>
              <a:t>An Emerging Player in a Growing Asia Market</a:t>
            </a:r>
            <a:endParaRPr lang="zh-CN" sz="1900" b="1" dirty="0">
              <a:solidFill>
                <a:schemeClr val="bg1"/>
              </a:solidFill>
              <a:latin typeface="+mj-lt"/>
              <a:ea typeface="宋体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2D14A2-CEBB-2F93-29C4-CE62B200134D}"/>
              </a:ext>
            </a:extLst>
          </p:cNvPr>
          <p:cNvSpPr txBox="1"/>
          <p:nvPr/>
        </p:nvSpPr>
        <p:spPr>
          <a:xfrm>
            <a:off x="505761" y="1515989"/>
            <a:ext cx="3256111" cy="111690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4290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1013" b="1" dirty="0">
                <a:solidFill>
                  <a:srgbClr val="000000"/>
                </a:solidFill>
                <a:ea typeface="+mn-lt"/>
                <a:cs typeface="Arial"/>
              </a:rPr>
              <a:t>Origin: </a:t>
            </a:r>
            <a:r>
              <a:rPr lang="en-US" sz="1013" dirty="0">
                <a:solidFill>
                  <a:srgbClr val="000000"/>
                </a:solidFill>
                <a:ea typeface="+mn-lt"/>
                <a:cs typeface="Arial"/>
              </a:rPr>
              <a:t>Est. </a:t>
            </a: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Arial"/>
              </a:rPr>
              <a:t>2020,</a:t>
            </a:r>
            <a:r>
              <a:rPr kumimoji="0" lang="en-US" sz="1013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Arial"/>
              </a:rPr>
              <a:t> </a:t>
            </a:r>
            <a:r>
              <a:rPr lang="en-US" sz="1013" dirty="0">
                <a:solidFill>
                  <a:srgbClr val="000000"/>
                </a:solidFill>
                <a:ea typeface="+mn-lt"/>
                <a:cs typeface="Arial"/>
              </a:rPr>
              <a:t>Singapore.</a:t>
            </a:r>
            <a:endParaRPr lang="zh-CN" altLang="en-US" sz="1350" dirty="0">
              <a:cs typeface="Arial"/>
            </a:endParaRPr>
          </a:p>
          <a:p>
            <a:pPr defTabSz="34290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1013" b="1" dirty="0">
                <a:solidFill>
                  <a:srgbClr val="000000"/>
                </a:solidFill>
                <a:ea typeface="+mn-lt"/>
                <a:cs typeface="Arial"/>
              </a:rPr>
              <a:t>Product:</a:t>
            </a:r>
            <a:r>
              <a:rPr lang="en-US" sz="1013" dirty="0">
                <a:solidFill>
                  <a:srgbClr val="000000"/>
                </a:solidFill>
                <a:ea typeface="+mn-lt"/>
                <a:cs typeface="Arial"/>
              </a:rPr>
              <a:t>  Premium </a:t>
            </a: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Arial"/>
              </a:rPr>
              <a:t>Tea </a:t>
            </a:r>
            <a:r>
              <a:rPr lang="en-US" sz="1013" dirty="0">
                <a:solidFill>
                  <a:srgbClr val="000000"/>
                </a:solidFill>
                <a:ea typeface="+mn-lt"/>
                <a:cs typeface="Arial"/>
              </a:rPr>
              <a:t>(Global Sourcing).</a:t>
            </a:r>
            <a:endParaRPr lang="en-US" sz="1350" dirty="0">
              <a:cs typeface="Arial"/>
            </a:endParaRPr>
          </a:p>
          <a:p>
            <a:pPr defTabSz="342900">
              <a:lnSpc>
                <a:spcPct val="150000"/>
              </a:lnSpc>
              <a:buClr>
                <a:srgbClr val="000000"/>
              </a:buClr>
              <a:defRPr/>
            </a:pPr>
            <a:r>
              <a:rPr lang="en-US" sz="1013" b="1" dirty="0">
                <a:solidFill>
                  <a:srgbClr val="000000"/>
                </a:solidFill>
                <a:ea typeface="+mn-lt"/>
                <a:cs typeface="Arial"/>
              </a:rPr>
              <a:t>Channel: </a:t>
            </a:r>
            <a:r>
              <a:rPr lang="en-US" sz="1013" dirty="0">
                <a:solidFill>
                  <a:srgbClr val="000000"/>
                </a:solidFill>
                <a:ea typeface="+mn-lt"/>
                <a:cs typeface="Arial"/>
              </a:rPr>
              <a:t>Online and Offline</a:t>
            </a:r>
            <a:endParaRPr lang="en-US" sz="1350" dirty="0">
              <a:solidFill>
                <a:srgbClr val="000000"/>
              </a:solidFill>
              <a:ea typeface="+mn-lt"/>
              <a:cs typeface="Arial"/>
            </a:endParaRPr>
          </a:p>
          <a:p>
            <a:pPr defTabSz="342900">
              <a:lnSpc>
                <a:spcPct val="150000"/>
              </a:lnSpc>
              <a:buClr>
                <a:srgbClr val="000000"/>
              </a:buClr>
              <a:buNone/>
              <a:defRPr/>
            </a:pPr>
            <a:r>
              <a:rPr lang="en-US" sz="1013" b="1" dirty="0">
                <a:solidFill>
                  <a:srgbClr val="000000"/>
                </a:solidFill>
                <a:ea typeface="+mn-lt"/>
                <a:cs typeface="Arial"/>
              </a:rPr>
              <a:t>Current Reach:</a:t>
            </a:r>
            <a:r>
              <a:rPr lang="en-US" sz="1013" dirty="0">
                <a:solidFill>
                  <a:srgbClr val="000000"/>
                </a:solidFill>
                <a:ea typeface="+mn-lt"/>
                <a:cs typeface="Arial"/>
              </a:rPr>
              <a:t> SG (Core), MY &amp; HK (Emerging).</a:t>
            </a:r>
            <a:endParaRPr lang="en-US" sz="1350" dirty="0">
              <a:cs typeface="Arial"/>
            </a:endParaRPr>
          </a:p>
          <a:p>
            <a:pPr marL="0" marR="0" lvl="0" indent="0" algn="l" defTabSz="342900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>
                <a:srgbClr val="000000"/>
              </a:buClr>
              <a:buSzPct val="100000"/>
              <a:buFont typeface="Segoe UI" panose="020B0502040204020203" pitchFamily="34" charset="0"/>
              <a:buChar char="​"/>
              <a:tabLst/>
              <a:defRPr/>
            </a:pPr>
            <a:endParaRPr lang="en-US" sz="1013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04C33-53F9-4B60-3428-39AE0DA5A4B5}"/>
              </a:ext>
            </a:extLst>
          </p:cNvPr>
          <p:cNvSpPr txBox="1"/>
          <p:nvPr/>
        </p:nvSpPr>
        <p:spPr>
          <a:xfrm>
            <a:off x="1803953" y="4845326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C0766B-D141-5777-1C8B-98256B4C6FD4}"/>
              </a:ext>
            </a:extLst>
          </p:cNvPr>
          <p:cNvSpPr txBox="1"/>
          <p:nvPr/>
        </p:nvSpPr>
        <p:spPr>
          <a:xfrm>
            <a:off x="1625048" y="488259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4" name="Picture 3" descr="A logo with a leaf on it&#10;&#10;AI-generated content may be incorrect.">
            <a:extLst>
              <a:ext uri="{FF2B5EF4-FFF2-40B4-BE49-F238E27FC236}">
                <a16:creationId xmlns:a16="http://schemas.microsoft.com/office/drawing/2014/main" id="{9EB67A3A-3806-B353-902F-898E173047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71" y="3053011"/>
            <a:ext cx="3252773" cy="190973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BE4078E-0172-8A19-4841-B05DFAB16098}"/>
              </a:ext>
            </a:extLst>
          </p:cNvPr>
          <p:cNvSpPr txBox="1"/>
          <p:nvPr/>
        </p:nvSpPr>
        <p:spPr>
          <a:xfrm>
            <a:off x="4043332" y="1623978"/>
            <a:ext cx="4576662" cy="127214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Calibri"/>
                <a:cs typeface="Calibri"/>
              </a:rPr>
              <a:t>KEY CHALLENGE</a:t>
            </a:r>
            <a:r>
              <a:rPr lang="en-US" dirty="0">
                <a:ea typeface="Calibri"/>
                <a:cs typeface="Calibri"/>
              </a:rPr>
              <a:t>: </a:t>
            </a:r>
            <a:endParaRPr lang="en-US" altLang="zh-CN" dirty="0">
              <a:ea typeface="Calibri"/>
              <a:cs typeface="Calibri"/>
            </a:endParaRPr>
          </a:p>
          <a:p>
            <a:endParaRPr lang="en-US" sz="1100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Despite favorable market trends, </a:t>
            </a:r>
            <a:r>
              <a:rPr lang="en-US" dirty="0" err="1">
                <a:ea typeface="Calibri"/>
                <a:cs typeface="Calibri"/>
              </a:rPr>
              <a:t>QLab</a:t>
            </a:r>
            <a:r>
              <a:rPr lang="en-US" dirty="0">
                <a:ea typeface="Calibri"/>
                <a:cs typeface="Calibri"/>
              </a:rPr>
              <a:t> tea faces </a:t>
            </a:r>
            <a:r>
              <a:rPr lang="en-US" b="1" dirty="0">
                <a:solidFill>
                  <a:srgbClr val="C00000"/>
                </a:solidFill>
                <a:ea typeface="Calibri"/>
                <a:cs typeface="Calibri"/>
              </a:rPr>
              <a:t>market size limitations</a:t>
            </a:r>
            <a:r>
              <a:rPr lang="en-US" dirty="0">
                <a:ea typeface="Calibri"/>
                <a:cs typeface="Calibri"/>
              </a:rPr>
              <a:t> and </a:t>
            </a:r>
            <a:r>
              <a:rPr lang="en-US" b="1" dirty="0">
                <a:solidFill>
                  <a:srgbClr val="C00000"/>
                </a:solidFill>
                <a:ea typeface="Calibri"/>
                <a:cs typeface="Calibri"/>
              </a:rPr>
              <a:t>profitability concerns</a:t>
            </a:r>
            <a:r>
              <a:rPr lang="en-US" dirty="0">
                <a:solidFill>
                  <a:srgbClr val="C00000"/>
                </a:solidFill>
                <a:ea typeface="Calibri"/>
                <a:cs typeface="Calibri"/>
              </a:rPr>
              <a:t> </a:t>
            </a:r>
            <a:r>
              <a:rPr lang="en-US" dirty="0">
                <a:ea typeface="Calibri"/>
                <a:cs typeface="Calibri"/>
              </a:rPr>
              <a:t>in its current setup.</a:t>
            </a:r>
            <a:endParaRPr lang="en-US" altLang="zh-CN" dirty="0">
              <a:ea typeface="Calibri"/>
              <a:cs typeface="Calibri"/>
            </a:endParaRPr>
          </a:p>
          <a:p>
            <a:pPr algn="l">
              <a:spcBef>
                <a:spcPts val="225"/>
              </a:spcBef>
              <a:spcAft>
                <a:spcPts val="225"/>
              </a:spcAft>
              <a:buNone/>
            </a:pPr>
            <a:endParaRPr lang="zh-CN" altLang="en-US" sz="1600" dirty="0">
              <a:ea typeface="宋体"/>
              <a:cs typeface="Calibri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96BC19A-E3E4-1172-655E-4D8C7176CC2C}"/>
              </a:ext>
            </a:extLst>
          </p:cNvPr>
          <p:cNvCxnSpPr>
            <a:cxnSpLocks/>
          </p:cNvCxnSpPr>
          <p:nvPr/>
        </p:nvCxnSpPr>
        <p:spPr>
          <a:xfrm>
            <a:off x="3761872" y="2745775"/>
            <a:ext cx="5138530" cy="9939"/>
          </a:xfrm>
          <a:prstGeom prst="straightConnector1">
            <a:avLst/>
          </a:prstGeom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A7FDEC3-3FD3-0ECF-9639-80A590F33FB3}"/>
              </a:ext>
            </a:extLst>
          </p:cNvPr>
          <p:cNvCxnSpPr/>
          <p:nvPr/>
        </p:nvCxnSpPr>
        <p:spPr>
          <a:xfrm>
            <a:off x="3901430" y="1624248"/>
            <a:ext cx="4971" cy="213692"/>
          </a:xfrm>
          <a:prstGeom prst="straightConnector1">
            <a:avLst/>
          </a:prstGeom>
          <a:ln w="57150" cap="flat">
            <a:solidFill>
              <a:srgbClr val="FF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B519517-0624-B9DF-4C95-7227B0CA48CF}"/>
              </a:ext>
            </a:extLst>
          </p:cNvPr>
          <p:cNvSpPr txBox="1"/>
          <p:nvPr/>
        </p:nvSpPr>
        <p:spPr>
          <a:xfrm>
            <a:off x="4043332" y="2829930"/>
            <a:ext cx="4576662" cy="1415709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ea typeface="Calibri"/>
                <a:cs typeface="Calibri"/>
              </a:rPr>
              <a:t>OUR GOALS</a:t>
            </a:r>
            <a:r>
              <a:rPr lang="en-US" dirty="0">
                <a:ea typeface="Calibri"/>
                <a:cs typeface="Calibri"/>
              </a:rPr>
              <a:t>: </a:t>
            </a:r>
            <a:endParaRPr lang="en-US" sz="1100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>
                <a:ea typeface="Calibri"/>
                <a:cs typeface="Calibri"/>
              </a:rPr>
              <a:t>Understand what are different groups among current customer base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Calibri"/>
                <a:cs typeface="Calibri"/>
              </a:rPr>
              <a:t>Finding the key factors influencing these groups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ea typeface="Calibri"/>
                <a:cs typeface="Calibri"/>
              </a:rPr>
              <a:t>Develop strategies to increase revenue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7384CA4-69C2-5528-6289-812B420BCDE5}"/>
              </a:ext>
            </a:extLst>
          </p:cNvPr>
          <p:cNvCxnSpPr/>
          <p:nvPr/>
        </p:nvCxnSpPr>
        <p:spPr>
          <a:xfrm>
            <a:off x="3896459" y="2839319"/>
            <a:ext cx="4971" cy="213692"/>
          </a:xfrm>
          <a:prstGeom prst="straightConnector1">
            <a:avLst/>
          </a:prstGeom>
          <a:ln w="57150" cap="flat">
            <a:solidFill>
              <a:srgbClr val="FF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17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3"/>
          <p:cNvSpPr/>
          <p:nvPr/>
        </p:nvSpPr>
        <p:spPr>
          <a:xfrm>
            <a:off x="4525645" y="1207135"/>
            <a:ext cx="3736340" cy="2922905"/>
          </a:xfrm>
          <a:prstGeom prst="roundRect">
            <a:avLst>
              <a:gd name="adj" fmla="val 2401"/>
            </a:avLst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: 圆角 13"/>
          <p:cNvSpPr/>
          <p:nvPr/>
        </p:nvSpPr>
        <p:spPr>
          <a:xfrm>
            <a:off x="481965" y="1229995"/>
            <a:ext cx="3409315" cy="2922905"/>
          </a:xfrm>
          <a:prstGeom prst="roundRect">
            <a:avLst>
              <a:gd name="adj" fmla="val 2401"/>
            </a:avLst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831020" y="1232845"/>
            <a:ext cx="2752448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>
                <a:solidFill>
                  <a:schemeClr val="dk1"/>
                </a:solidFill>
              </a:rPr>
              <a:t>Track 1: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 dirty="0">
                <a:solidFill>
                  <a:schemeClr val="dk1"/>
                </a:solidFill>
              </a:rPr>
              <a:t> </a:t>
            </a:r>
            <a:r>
              <a:rPr lang="zh-CN" sz="1500" b="1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Upselling (</a:t>
            </a:r>
            <a:r>
              <a:rPr lang="en-US" altLang="zh-CN" sz="1500" b="1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Revenue</a:t>
            </a:r>
            <a:r>
              <a:rPr lang="zh-CN" sz="1500" b="1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zh-CN" sz="1500" b="1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Growth)</a:t>
            </a:r>
            <a:endParaRPr lang="zh-CN" sz="1500" b="1">
              <a:solidFill>
                <a:schemeClr val="dk1"/>
              </a:solidFill>
              <a:effectLst>
                <a:glow rad="101600">
                  <a:srgbClr val="FFAB40">
                    <a:satMod val="175000"/>
                    <a:alpha val="40000"/>
                  </a:srgbClr>
                </a:glow>
              </a:effectLst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42775" y="1780779"/>
            <a:ext cx="3124200" cy="1473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>
                <a:solidFill>
                  <a:schemeClr val="dk1"/>
                </a:solidFill>
              </a:rPr>
              <a:t>Method</a:t>
            </a:r>
            <a:r>
              <a:rPr lang="en-US" altLang="zh-CN" sz="1200" b="1" dirty="0">
                <a:solidFill>
                  <a:schemeClr val="dk1"/>
                </a:solidFill>
              </a:rPr>
              <a:t>ology</a:t>
            </a:r>
            <a:r>
              <a:rPr lang="zh-CN" sz="1200" b="1" dirty="0">
                <a:solidFill>
                  <a:schemeClr val="dk1"/>
                </a:solidFill>
              </a:rPr>
              <a:t>:</a:t>
            </a:r>
            <a:endParaRPr lang="zh-CN" alt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>
                <a:solidFill>
                  <a:schemeClr val="dk1"/>
                </a:solidFill>
              </a:rPr>
              <a:t>Input:</a:t>
            </a:r>
            <a:r>
              <a:rPr lang="zh-CN" sz="1200" dirty="0">
                <a:solidFill>
                  <a:schemeClr val="dk1"/>
                </a:solidFill>
              </a:rPr>
              <a:t> </a:t>
            </a:r>
            <a:r>
              <a:rPr lang="zh-CN" sz="1200" b="1" dirty="0">
                <a:solidFill>
                  <a:srgbClr val="C00000"/>
                </a:solidFill>
              </a:rPr>
              <a:t>RFM Model</a:t>
            </a:r>
            <a:r>
              <a:rPr lang="zh-CN" sz="1200" dirty="0">
                <a:solidFill>
                  <a:schemeClr val="dk1"/>
                </a:solidFill>
              </a:rPr>
              <a:t> + User Behavioral Features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>
                <a:solidFill>
                  <a:schemeClr val="dk1"/>
                </a:solidFill>
              </a:rPr>
              <a:t>Process:</a:t>
            </a:r>
            <a:r>
              <a:rPr lang="zh-CN" sz="1200" dirty="0">
                <a:solidFill>
                  <a:schemeClr val="dk1"/>
                </a:solidFill>
              </a:rPr>
              <a:t> Clustering analysis to identify</a:t>
            </a:r>
            <a:r>
              <a:rPr lang="zh-CN" sz="1200" b="1" dirty="0">
                <a:solidFill>
                  <a:srgbClr val="C00000"/>
                </a:solidFill>
              </a:rPr>
              <a:t> 3 Distinct Profiles</a:t>
            </a:r>
            <a:endParaRPr sz="1200" b="1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>
                <a:solidFill>
                  <a:schemeClr val="dk1"/>
                </a:solidFill>
              </a:rPr>
              <a:t>Strategy:</a:t>
            </a:r>
            <a:r>
              <a:rPr lang="en-US" altLang="zh-CN" sz="1200" b="1" dirty="0">
                <a:solidFill>
                  <a:srgbClr val="C00000"/>
                </a:solidFill>
              </a:rPr>
              <a:t>Designed</a:t>
            </a:r>
            <a:r>
              <a:rPr lang="zh-CN" sz="1200" b="1" dirty="0">
                <a:solidFill>
                  <a:srgbClr val="C00000"/>
                </a:solidFill>
              </a:rPr>
              <a:t> AOV</a:t>
            </a:r>
            <a:r>
              <a:rPr lang="zh-CN" sz="1200" dirty="0">
                <a:solidFill>
                  <a:schemeClr val="dk1"/>
                </a:solidFill>
              </a:rPr>
              <a:t> enhancement </a:t>
            </a:r>
            <a:r>
              <a:rPr lang="en-US" altLang="zh-CN" sz="1200" dirty="0">
                <a:solidFill>
                  <a:schemeClr val="dk1"/>
                </a:solidFill>
              </a:rPr>
              <a:t>strategies for each user</a:t>
            </a:r>
            <a:r>
              <a:rPr lang="zh-CN" sz="1200" dirty="0">
                <a:solidFill>
                  <a:schemeClr val="dk1"/>
                </a:solidFill>
              </a:rPr>
              <a:t> profile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86500" y="30084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52065" y="3181376"/>
            <a:ext cx="3766607" cy="65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/>
              <a:t>Key Result:</a:t>
            </a:r>
            <a:endParaRPr sz="1200" b="1" dirty="0"/>
          </a:p>
          <a:p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AOV uplift strategy：</a:t>
            </a:r>
            <a:r>
              <a:rPr lang="zh-CN" altLang="en-US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 </a:t>
            </a:r>
            <a:endParaRPr lang="zh-CN" altLang="en-US" dirty="0"/>
          </a:p>
          <a:p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Revenue: $199,555 </a:t>
            </a:r>
            <a:r>
              <a:rPr lang="zh-CN" altLang="en-US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→ $217,945</a:t>
            </a:r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    </a:t>
            </a:r>
          </a:p>
          <a:p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rgbClr val="FFAB40">
                      <a:satMod val="175000"/>
                      <a:alpha val="40000"/>
                    </a:srgbClr>
                  </a:glow>
                </a:effectLst>
              </a:rPr>
              <a:t>（+9.2% Jump）</a:t>
            </a:r>
            <a:endParaRPr lang="zh-CN" dirty="0"/>
          </a:p>
        </p:txBody>
      </p:sp>
      <p:sp>
        <p:nvSpPr>
          <p:cNvPr id="78" name="Google Shape;78;p15"/>
          <p:cNvSpPr txBox="1"/>
          <p:nvPr/>
        </p:nvSpPr>
        <p:spPr>
          <a:xfrm>
            <a:off x="4749165" y="1232845"/>
            <a:ext cx="3383915" cy="627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/>
              <a:t>Track 2: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Efficiency Optimization (Cost ROI)</a:t>
            </a:r>
          </a:p>
        </p:txBody>
      </p:sp>
      <p:sp>
        <p:nvSpPr>
          <p:cNvPr id="79" name="Google Shape;79;p15"/>
          <p:cNvSpPr txBox="1"/>
          <p:nvPr/>
        </p:nvSpPr>
        <p:spPr>
          <a:xfrm>
            <a:off x="4810760" y="1779613"/>
            <a:ext cx="3124200" cy="1692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/>
              <a:t>Methodology:</a:t>
            </a:r>
            <a:endParaRPr sz="1200"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>
                <a:solidFill>
                  <a:schemeClr val="dk1"/>
                </a:solidFill>
              </a:rPr>
              <a:t>Tool:</a:t>
            </a:r>
            <a:r>
              <a:rPr lang="zh-CN" sz="1200" dirty="0">
                <a:solidFill>
                  <a:schemeClr val="dk1"/>
                </a:solidFill>
              </a:rPr>
              <a:t> </a:t>
            </a:r>
            <a:r>
              <a:rPr lang="zh-CN" sz="1200" b="1" dirty="0">
                <a:solidFill>
                  <a:srgbClr val="C00000"/>
                </a:solidFill>
              </a:rPr>
              <a:t>XGBoost</a:t>
            </a:r>
            <a:r>
              <a:rPr lang="zh-CN" sz="1200" dirty="0">
                <a:solidFill>
                  <a:srgbClr val="C00000"/>
                </a:solidFill>
              </a:rPr>
              <a:t> </a:t>
            </a:r>
            <a:r>
              <a:rPr lang="zh-CN" sz="1200" dirty="0">
                <a:solidFill>
                  <a:schemeClr val="dk1"/>
                </a:solidFill>
              </a:rPr>
              <a:t>Predictive Modeling</a:t>
            </a:r>
            <a:endParaRPr sz="1200" dirty="0">
              <a:solidFill>
                <a:schemeClr val="dk1"/>
              </a:solidFill>
            </a:endParaRPr>
          </a:p>
          <a:p>
            <a:r>
              <a:rPr lang="zh-CN" sz="1200" b="1" dirty="0">
                <a:solidFill>
                  <a:schemeClr val="dk1"/>
                </a:solidFill>
              </a:rPr>
              <a:t>Logic:</a:t>
            </a:r>
            <a:r>
              <a:rPr lang="zh-CN" sz="1200" dirty="0">
                <a:solidFill>
                  <a:schemeClr val="dk1"/>
                </a:solidFill>
              </a:rPr>
              <a:t> Calculating individual </a:t>
            </a:r>
            <a:r>
              <a:rPr lang="zh-CN" sz="1200" b="1" dirty="0">
                <a:solidFill>
                  <a:srgbClr val="C00000"/>
                </a:solidFill>
              </a:rPr>
              <a:t>Retention Probability</a:t>
            </a:r>
            <a:r>
              <a:rPr lang="zh-CN" sz="1200" dirty="0">
                <a:solidFill>
                  <a:schemeClr val="dk1"/>
                </a:solidFill>
              </a:rPr>
              <a:t> </a:t>
            </a:r>
            <a:r>
              <a:rPr lang="en-US" altLang="zh-CN" sz="1200" dirty="0">
                <a:solidFill>
                  <a:schemeClr val="dk1"/>
                </a:solidFill>
              </a:rPr>
              <a:t> and </a:t>
            </a:r>
            <a:r>
              <a:rPr lang="en-US" altLang="zh-CN" sz="1200" b="1" dirty="0">
                <a:solidFill>
                  <a:srgbClr val="C00000"/>
                </a:solidFill>
              </a:rPr>
              <a:t>Marketing Expenditure</a:t>
            </a:r>
            <a:r>
              <a:rPr lang="en-US" altLang="zh-CN" sz="1200" dirty="0"/>
              <a:t> for each user</a:t>
            </a:r>
            <a:r>
              <a:rPr lang="en-US" altLang="zh-CN" dirty="0"/>
              <a:t>​</a:t>
            </a:r>
          </a:p>
          <a:p>
            <a:r>
              <a:rPr lang="en-US" sz="1200" b="1">
                <a:solidFill>
                  <a:schemeClr val="dk1"/>
                </a:solidFill>
              </a:rPr>
              <a:t>Finding</a:t>
            </a:r>
            <a:r>
              <a:rPr lang="en-US" sz="1200">
                <a:solidFill>
                  <a:schemeClr val="dk1"/>
                </a:solidFill>
              </a:rPr>
              <a:t>: </a:t>
            </a:r>
            <a:r>
              <a:rPr lang="en-US" sz="1200" dirty="0">
                <a:solidFill>
                  <a:schemeClr val="dk1"/>
                </a:solidFill>
              </a:rPr>
              <a:t>Low retention rate user cost more</a:t>
            </a:r>
            <a:endParaRPr sz="1200" dirty="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zh-CN" sz="1200" b="1" dirty="0">
                <a:solidFill>
                  <a:schemeClr val="dk1"/>
                </a:solidFill>
              </a:rPr>
              <a:t>Strategy:</a:t>
            </a:r>
            <a:r>
              <a:rPr lang="en-US" altLang="zh-CN" sz="1200" b="1" dirty="0">
                <a:solidFill>
                  <a:srgbClr val="C00000"/>
                </a:solidFill>
              </a:rPr>
              <a:t>"Abandon</a:t>
            </a:r>
            <a:r>
              <a:rPr lang="zh-CN" altLang="en-US" sz="1200" b="1" dirty="0">
                <a:solidFill>
                  <a:srgbClr val="C00000"/>
                </a:solidFill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</a:rPr>
              <a:t>low</a:t>
            </a:r>
            <a:r>
              <a:rPr lang="zh-CN" altLang="en-US" sz="1200" b="1" dirty="0">
                <a:solidFill>
                  <a:srgbClr val="C00000"/>
                </a:solidFill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</a:rPr>
              <a:t>retention</a:t>
            </a:r>
            <a:r>
              <a:rPr lang="zh-CN" altLang="en-US" sz="1200" b="1" dirty="0">
                <a:solidFill>
                  <a:srgbClr val="C00000"/>
                </a:solidFill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</a:rPr>
              <a:t>users"</a:t>
            </a:r>
            <a:r>
              <a:rPr lang="zh-CN" sz="1200" dirty="0">
                <a:solidFill>
                  <a:schemeClr val="dk1"/>
                </a:solidFill>
              </a:rPr>
              <a:t> Terminating spend on Negative-ROI users</a:t>
            </a:r>
            <a:endParaRPr sz="1200" dirty="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5398925" y="33580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4810760" y="3299722"/>
            <a:ext cx="3231173" cy="708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dirty="0">
                <a:solidFill>
                  <a:schemeClr val="dk1"/>
                </a:solidFill>
              </a:rPr>
              <a:t>Key Result:</a:t>
            </a:r>
            <a:endParaRPr sz="1200" dirty="0">
              <a:solidFill>
                <a:schemeClr val="dk1"/>
              </a:solidFill>
            </a:endParaRPr>
          </a:p>
          <a:p>
            <a:pPr>
              <a:lnSpc>
                <a:spcPct val="115000"/>
              </a:lnSpc>
            </a:pPr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Selective Marketing strategy：</a:t>
            </a:r>
          </a:p>
          <a:p>
            <a:pPr>
              <a:lnSpc>
                <a:spcPct val="114999"/>
              </a:lnSpc>
            </a:pPr>
            <a:r>
              <a:rPr lang="en-US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Revenue</a:t>
            </a:r>
            <a:r>
              <a:rPr lang="en-US" altLang="en-US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: </a:t>
            </a:r>
            <a:r>
              <a:rPr lang="zh-CN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-$1,361</a:t>
            </a:r>
            <a:r>
              <a:rPr lang="zh-CN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→ </a:t>
            </a:r>
            <a:r>
              <a:rPr lang="en-US" altLang="zh-CN" b="1" dirty="0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$2,061</a:t>
            </a:r>
            <a:endParaRPr lang="zh-CN" b="1" dirty="0">
              <a:solidFill>
                <a:srgbClr val="C00000"/>
              </a:solidFill>
              <a:effectLst>
                <a:glow rad="101600">
                  <a:srgbClr val="FFAB40">
                    <a:satMod val="175000"/>
                    <a:alpha val="40000"/>
                  </a:srgbClr>
                </a:glow>
              </a:effectLst>
            </a:endParaRPr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6914515" cy="106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zh-CN" b="1" dirty="0">
                <a:solidFill>
                  <a:schemeClr val="bg1"/>
                </a:solidFill>
                <a:ea typeface="Calibri" panose="020F0502020204030204"/>
                <a:sym typeface="Calibri" panose="020F0502020204030204"/>
              </a:rPr>
              <a:t>Executive Summary: </a:t>
            </a:r>
            <a:endParaRPr lang="en-GB" b="1" dirty="0">
              <a:solidFill>
                <a:schemeClr val="bg1"/>
              </a:solidFill>
              <a:ea typeface="Calibri" panose="020F0502020204030204"/>
              <a:sym typeface="Calibri" panose="020F0502020204030204"/>
            </a:endParaRPr>
          </a:p>
          <a:p>
            <a:r>
              <a:rPr lang="zh-CN" sz="2100" b="1" dirty="0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sym typeface="Calibri" panose="020F0502020204030204"/>
              </a:rPr>
              <a:t>Data-Driven Precision Marketing Yields</a:t>
            </a:r>
            <a:r>
              <a:rPr lang="zh-CN" altLang="en-US" sz="2100" b="1" dirty="0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sym typeface="Calibri" panose="020F0502020204030204"/>
              </a:rPr>
              <a:t> </a:t>
            </a:r>
            <a:r>
              <a:rPr lang="en-US" altLang="en-US" sz="2100" b="1" dirty="0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sym typeface="Calibri" panose="020F0502020204030204"/>
              </a:rPr>
              <a:t>Revenue</a:t>
            </a:r>
            <a:r>
              <a:rPr lang="zh-CN" sz="2100" b="1" dirty="0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  <a:sym typeface="Calibri" panose="020F0502020204030204"/>
              </a:rPr>
              <a:t> Growth</a:t>
            </a:r>
            <a:endParaRPr lang="zh-CN" sz="2100" b="1" dirty="0">
              <a:solidFill>
                <a:schemeClr val="lt1"/>
              </a:solidFill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145415" y="4276725"/>
            <a:ext cx="895159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altLang="zh-CN" sz="1500" b="1" dirty="0">
                <a:solidFill>
                  <a:schemeClr val="dk1"/>
                </a:solidFill>
              </a:rPr>
              <a:t>Core</a:t>
            </a:r>
            <a:r>
              <a:rPr lang="zh-CN" altLang="en-US" sz="1500" b="1" dirty="0">
                <a:solidFill>
                  <a:schemeClr val="dk1"/>
                </a:solidFill>
              </a:rPr>
              <a:t> </a:t>
            </a:r>
            <a:r>
              <a:rPr lang="en-US" altLang="zh-CN" sz="1500" b="1" dirty="0">
                <a:solidFill>
                  <a:schemeClr val="dk1"/>
                </a:solidFill>
              </a:rPr>
              <a:t>Insight: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By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shifting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from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b="1" dirty="0">
                <a:solidFill>
                  <a:srgbClr val="C00000"/>
                </a:solidFill>
              </a:rPr>
              <a:t>"Mass</a:t>
            </a:r>
            <a:r>
              <a:rPr lang="zh-CN" altLang="en-US" sz="1500" b="1" dirty="0">
                <a:solidFill>
                  <a:srgbClr val="C00000"/>
                </a:solidFill>
              </a:rPr>
              <a:t> </a:t>
            </a:r>
            <a:r>
              <a:rPr lang="en-US" altLang="zh-CN" sz="1500" b="1" dirty="0">
                <a:solidFill>
                  <a:srgbClr val="C00000"/>
                </a:solidFill>
              </a:rPr>
              <a:t>Marketing"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to</a:t>
            </a:r>
            <a:r>
              <a:rPr lang="zh-CN" altLang="en-US" sz="1500" dirty="0">
                <a:solidFill>
                  <a:srgbClr val="C00000"/>
                </a:solidFill>
              </a:rPr>
              <a:t> </a:t>
            </a:r>
            <a:r>
              <a:rPr lang="en-US" altLang="zh-CN" sz="1500" b="1" dirty="0">
                <a:solidFill>
                  <a:srgbClr val="C00000"/>
                </a:solidFill>
              </a:rPr>
              <a:t>"Pre</a:t>
            </a:r>
            <a:r>
              <a:rPr lang="zh-CN" sz="1500" b="1" dirty="0">
                <a:solidFill>
                  <a:srgbClr val="C00000"/>
                </a:solidFill>
              </a:rPr>
              <a:t>c</a:t>
            </a:r>
            <a:r>
              <a:rPr lang="en-US" altLang="zh-CN" sz="1500" b="1" dirty="0" err="1">
                <a:solidFill>
                  <a:srgbClr val="C00000"/>
                </a:solidFill>
              </a:rPr>
              <a:t>ision</a:t>
            </a:r>
            <a:r>
              <a:rPr lang="zh-CN" altLang="en-US" sz="1500" b="1" dirty="0">
                <a:solidFill>
                  <a:srgbClr val="C00000"/>
                </a:solidFill>
              </a:rPr>
              <a:t> </a:t>
            </a:r>
            <a:r>
              <a:rPr lang="en-US" altLang="zh-CN" sz="1500" b="1" dirty="0">
                <a:solidFill>
                  <a:srgbClr val="C00000"/>
                </a:solidFill>
              </a:rPr>
              <a:t>Investment"</a:t>
            </a:r>
            <a:r>
              <a:rPr lang="en-US" altLang="zh-CN" sz="1500" dirty="0">
                <a:solidFill>
                  <a:schemeClr val="dk1"/>
                </a:solidFill>
              </a:rPr>
              <a:t>,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we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maximize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the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yield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of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every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marketing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dollar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spent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while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simultaneously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driving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higher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revenue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from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more valuable</a:t>
            </a:r>
            <a:r>
              <a:rPr lang="zh-CN" altLang="en-US" sz="1500" dirty="0">
                <a:solidFill>
                  <a:schemeClr val="dk1"/>
                </a:solidFill>
              </a:rPr>
              <a:t> </a:t>
            </a:r>
            <a:r>
              <a:rPr lang="en-US" altLang="zh-CN" sz="1500" dirty="0">
                <a:solidFill>
                  <a:schemeClr val="dk1"/>
                </a:solidFill>
              </a:rPr>
              <a:t>users.</a:t>
            </a:r>
            <a:endParaRPr lang="zh-CN" dirty="0">
              <a:solidFill>
                <a:schemeClr val="dk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DE0EBC5-EFB2-0547-47B9-60EC039BC7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微信图片_20260210175101_75_9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875" y="1735455"/>
            <a:ext cx="2651125" cy="1926590"/>
          </a:xfrm>
          <a:prstGeom prst="rect">
            <a:avLst/>
          </a:prstGeom>
        </p:spPr>
      </p:pic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83820" y="45720"/>
            <a:ext cx="6165850" cy="8928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b="1" dirty="0">
                <a:solidFill>
                  <a:schemeClr val="lt1"/>
                </a:solidFill>
              </a:rPr>
              <a:t>Identifying 3 Distinct </a:t>
            </a:r>
            <a:r>
              <a:rPr lang="en-US" altLang="zh-CN" b="1" dirty="0">
                <a:solidFill>
                  <a:schemeClr val="lt1"/>
                </a:solidFill>
              </a:rPr>
              <a:t>User Profiles</a:t>
            </a:r>
            <a:r>
              <a:rPr lang="zh-CN" b="1" dirty="0">
                <a:solidFill>
                  <a:schemeClr val="lt1"/>
                </a:solidFill>
              </a:rPr>
              <a:t> via RFM &amp; K-Means Clustering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152400" y="1123315"/>
            <a:ext cx="9004935" cy="42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Full User Base</a:t>
            </a:r>
            <a:r>
              <a:rPr lang="zh-CN" sz="1600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→ </a:t>
            </a:r>
            <a:r>
              <a:rPr lang="zh-CN" sz="1600" b="1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Z-score Normalization</a:t>
            </a:r>
            <a:r>
              <a:rPr lang="zh-CN" sz="1600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→ </a:t>
            </a:r>
            <a:r>
              <a:rPr lang="zh-CN" sz="1600" b="1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RFM Framework</a:t>
            </a:r>
            <a:r>
              <a:rPr lang="zh-CN" sz="1600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→ </a:t>
            </a:r>
            <a:r>
              <a:rPr lang="zh-CN" sz="1600" b="1" dirty="0">
                <a:solidFill>
                  <a:schemeClr val="dk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K-Means Clustering</a:t>
            </a:r>
          </a:p>
        </p:txBody>
      </p:sp>
      <p:graphicFrame>
        <p:nvGraphicFramePr>
          <p:cNvPr id="90" name="Google Shape;90;p16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873675"/>
              </p:ext>
            </p:extLst>
          </p:nvPr>
        </p:nvGraphicFramePr>
        <p:xfrm>
          <a:off x="167640" y="1595755"/>
          <a:ext cx="6328410" cy="2503170"/>
        </p:xfrm>
        <a:graphic>
          <a:graphicData uri="http://schemas.openxmlformats.org/drawingml/2006/table">
            <a:tbl>
              <a:tblPr firstRow="1" bandRow="1">
                <a:noFill/>
                <a:tableStyleId>{09553C86-EB9D-43D3-BDB6-63D987C21CFA}</a:tableStyleId>
              </a:tblPr>
              <a:tblGrid>
                <a:gridCol w="2109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9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>
                          <a:latin typeface="Arial"/>
                        </a:rPr>
                        <a:t>Profile 1: Golden Whales</a:t>
                      </a:r>
                    </a:p>
                  </a:txBody>
                  <a:tcPr marL="28575" marR="28575" marT="19050" marB="19050" anchor="ctr">
                    <a:lnL w="12700" cmpd="sng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 cmpd="sng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>
                          <a:latin typeface="Arial"/>
                        </a:rPr>
                        <a:t>Profile 2: High Potential</a:t>
                      </a:r>
                    </a:p>
                  </a:txBody>
                  <a:tcPr marL="28575" marR="2857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 cmpd="sng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>
                          <a:latin typeface="Arial"/>
                        </a:rPr>
                        <a:t>Profile 3: Casual Walk-ins</a:t>
                      </a:r>
                    </a:p>
                  </a:txBody>
                  <a:tcPr marL="91425" marR="9142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 cmpd="sng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 cmpd="sng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>
                          <a:solidFill>
                            <a:srgbClr val="C00000"/>
                          </a:solidFill>
                          <a:latin typeface="Arial"/>
                        </a:rPr>
                        <a:t>"The Core Asset"</a:t>
                      </a:r>
                    </a:p>
                  </a:txBody>
                  <a:tcPr marL="28575" marR="28575" marT="19050" marB="19050" anchor="ctr">
                    <a:lnL w="12700" cmpd="sng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b="1">
                          <a:solidFill>
                            <a:srgbClr val="C00000"/>
                          </a:solidFill>
                          <a:latin typeface="Arial"/>
                        </a:rPr>
                        <a:t>"The Growth Engine"</a:t>
                      </a:r>
                    </a:p>
                  </a:txBody>
                  <a:tcPr marL="28575" marR="2857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altLang="zh-CN" sz="1000" b="1" i="0" u="none" strike="noStrike" cap="none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  <a:sym typeface="Arial" panose="020B0604020202020204"/>
                        </a:rPr>
                        <a:t>"Low-Loyalty Traffic"</a:t>
                      </a:r>
                      <a:endParaRPr lang="zh-CN" altLang="en-US" sz="1000" b="1" i="0" u="none" strike="noStrike" cap="none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1425" marR="9142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 cmpd="sng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56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Traits:• Highest AOV &amp; Frequency</a:t>
                      </a:r>
                      <a:endParaRPr lang="zh-CN" altLang="en-US" dirty="0">
                        <a:latin typeface="Arial"/>
                      </a:endParaRPr>
                    </a:p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• Strong brand loyalty</a:t>
                      </a:r>
                      <a:endParaRPr lang="zh-CN" altLang="en-US" sz="1000" dirty="0">
                        <a:latin typeface="Arial"/>
                      </a:endParaRPr>
                    </a:p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• High contribution users</a:t>
                      </a:r>
                      <a:endParaRPr lang="zh-CN" dirty="0">
                        <a:latin typeface="Arial"/>
                      </a:endParaRPr>
                    </a:p>
                  </a:txBody>
                  <a:tcPr marL="28575" marR="28575" marT="19050" marB="19050" anchor="ctr">
                    <a:lnL w="12700" cmpd="sng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Traits:• High brand affinity</a:t>
                      </a:r>
                      <a:endParaRPr lang="zh-CN" altLang="en-US" dirty="0">
                        <a:latin typeface="Arial"/>
                      </a:endParaRPr>
                    </a:p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• Above-average spenders</a:t>
                      </a:r>
                      <a:endParaRPr lang="zh-CN" altLang="en-US" sz="1000" dirty="0">
                        <a:latin typeface="Arial"/>
                      </a:endParaRPr>
                    </a:p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• </a:t>
                      </a:r>
                      <a:r>
                        <a:rPr lang="en-US" altLang="zh-CN" sz="1000" dirty="0">
                          <a:latin typeface="Arial"/>
                        </a:rPr>
                        <a:t>Many</a:t>
                      </a:r>
                      <a:r>
                        <a:rPr lang="zh-CN" sz="1000" dirty="0">
                          <a:latin typeface="Arial"/>
                        </a:rPr>
                        <a:t> newer users</a:t>
                      </a:r>
                      <a:endParaRPr lang="zh-CN" dirty="0">
                        <a:latin typeface="Arial"/>
                      </a:endParaRPr>
                    </a:p>
                  </a:txBody>
                  <a:tcPr marL="28575" marR="2857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Arial"/>
                        </a:rPr>
                        <a:t>Traits:• Promo-driven behavior</a:t>
                      </a:r>
                      <a:endParaRPr lang="zh-CN" altLang="en-US">
                        <a:latin typeface="Arial"/>
                      </a:endParaRPr>
                    </a:p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Arial"/>
                        </a:rPr>
                        <a:t>•</a:t>
                      </a:r>
                      <a:r>
                        <a:rPr lang="zh-CN" sz="1000" b="1">
                          <a:latin typeface="Arial"/>
                        </a:rPr>
                        <a:t> </a:t>
                      </a:r>
                      <a:r>
                        <a:rPr lang="zh-CN" sz="1000">
                          <a:latin typeface="Arial"/>
                        </a:rPr>
                        <a:t>Lower AOV &amp; Loyalty</a:t>
                      </a:r>
                      <a:endParaRPr lang="zh-CN" altLang="en-US" sz="1000">
                        <a:latin typeface="Arial"/>
                      </a:endParaRPr>
                    </a:p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Arial"/>
                        </a:rPr>
                        <a:t>• Attracted by ad</a:t>
                      </a:r>
                      <a:r>
                        <a:rPr lang="en-US" altLang="zh-CN" sz="1000">
                          <a:latin typeface="Arial"/>
                        </a:rPr>
                        <a:t>s</a:t>
                      </a:r>
                      <a:endParaRPr lang="zh-CN">
                        <a:latin typeface="Arial"/>
                      </a:endParaRPr>
                    </a:p>
                  </a:txBody>
                  <a:tcPr marL="91425" marR="9142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 cmpd="sng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12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Business Logic:These are the brand's most valuable assets who demand premium experience.</a:t>
                      </a:r>
                    </a:p>
                  </a:txBody>
                  <a:tcPr marL="28575" marR="28575" marT="19050" marB="19050" anchor="ctr">
                    <a:lnL w="12700" cmpd="sng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Arial"/>
                        </a:rPr>
                        <a:t>Business Logic:The best candidates to be converted into future "Golden Whales."</a:t>
                      </a:r>
                    </a:p>
                  </a:txBody>
                  <a:tcPr marL="28575" marR="2857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0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  <a:sym typeface="Arial" panose="020B0604020202020204"/>
                        </a:rPr>
                        <a:t>Business Logic: Short term customers and low brand loyalty</a:t>
                      </a:r>
                      <a:endParaRPr lang="zh-CN" altLang="en-US" sz="1000" b="0" i="0" u="none" strike="noStrike" cap="none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1425" marR="9142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 cmpd="sng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90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Arial"/>
                        </a:rPr>
                        <a:t>Priority: </a:t>
                      </a:r>
                      <a:r>
                        <a:rPr lang="zh-CN" sz="1000" b="1">
                          <a:solidFill>
                            <a:srgbClr val="C00000"/>
                          </a:solidFill>
                          <a:latin typeface="Arial"/>
                        </a:rPr>
                        <a:t>Critical Retention</a:t>
                      </a:r>
                      <a:endParaRPr lang="zh-CN" sz="1000">
                        <a:latin typeface="Arial"/>
                      </a:endParaRPr>
                    </a:p>
                  </a:txBody>
                  <a:tcPr marL="28575" marR="28575" marT="19050" marB="19050" anchor="ctr">
                    <a:lnL w="12700" cmpd="sng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 cmpd="sng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>
                          <a:latin typeface="Arial"/>
                        </a:rPr>
                        <a:t>Priority: </a:t>
                      </a:r>
                      <a:r>
                        <a:rPr lang="zh-CN" sz="1000" b="1">
                          <a:solidFill>
                            <a:srgbClr val="C00000"/>
                          </a:solidFill>
                          <a:latin typeface="Arial"/>
                        </a:rPr>
                        <a:t>Value Acceleration</a:t>
                      </a:r>
                      <a:endParaRPr lang="zh-CN" sz="1000">
                        <a:latin typeface="Arial"/>
                      </a:endParaRPr>
                    </a:p>
                  </a:txBody>
                  <a:tcPr marL="28575" marR="2857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 cmpd="sng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000" dirty="0">
                          <a:latin typeface="Arial"/>
                        </a:rPr>
                        <a:t>Priority: </a:t>
                      </a:r>
                      <a:r>
                        <a:rPr lang="zh-CN" sz="1000" b="1" dirty="0">
                          <a:solidFill>
                            <a:srgbClr val="C00000"/>
                          </a:solidFill>
                          <a:latin typeface="Arial"/>
                        </a:rPr>
                        <a:t>Cost Efficiency</a:t>
                      </a:r>
                      <a:endParaRPr lang="zh-CN" sz="1000" dirty="0">
                        <a:latin typeface="Arial"/>
                      </a:endParaRPr>
                    </a:p>
                  </a:txBody>
                  <a:tcPr marL="91425" marR="91425" marT="19050" marB="19050" anchor="ctr">
                    <a:lnL w="12700">
                      <a:solidFill>
                        <a:srgbClr val="FFC000"/>
                      </a:solidFill>
                      <a:prstDash val="solid"/>
                    </a:lnL>
                    <a:lnR w="12700" cmpd="sng">
                      <a:solidFill>
                        <a:srgbClr val="FFC000"/>
                      </a:solidFill>
                      <a:prstDash val="solid"/>
                    </a:lnR>
                    <a:lnT w="12700" cmpd="sng">
                      <a:solidFill>
                        <a:srgbClr val="FFC000"/>
                      </a:solidFill>
                      <a:prstDash val="solid"/>
                    </a:lnT>
                    <a:lnB w="12700" cmpd="sng">
                      <a:solidFill>
                        <a:srgbClr val="FFC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6"/>
          <p:cNvSpPr txBox="1"/>
          <p:nvPr/>
        </p:nvSpPr>
        <p:spPr>
          <a:xfrm>
            <a:off x="152400" y="4098925"/>
            <a:ext cx="8552180" cy="77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1" dirty="0">
                <a:solidFill>
                  <a:schemeClr val="dk1"/>
                </a:solidFill>
              </a:rPr>
              <a:t>Next Step:</a:t>
            </a:r>
            <a:r>
              <a:rPr lang="zh-CN" sz="1600" dirty="0">
                <a:solidFill>
                  <a:schemeClr val="dk1"/>
                </a:solidFill>
              </a:rPr>
              <a:t> </a:t>
            </a:r>
          </a:p>
          <a:p>
            <a:pPr marL="0" lvl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dirty="0">
                <a:solidFill>
                  <a:schemeClr val="dk1"/>
                </a:solidFill>
              </a:rPr>
              <a:t>Applying SHAP-driven insights to design targeted </a:t>
            </a:r>
            <a:r>
              <a:rPr lang="zh-CN" sz="1500" b="1" dirty="0">
                <a:solidFill>
                  <a:srgbClr val="C00000"/>
                </a:solidFill>
              </a:rPr>
              <a:t>strategies</a:t>
            </a:r>
            <a:r>
              <a:rPr lang="zh-CN" sz="1500" dirty="0">
                <a:solidFill>
                  <a:schemeClr val="dk1"/>
                </a:solidFill>
              </a:rPr>
              <a:t> for each group.</a:t>
            </a: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443A50C-9941-2A6F-E35F-A1A1D30F2E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F7748BB-1C5E-0A6F-FC14-07CF220C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>
            <a:extLst>
              <a:ext uri="{FF2B5EF4-FFF2-40B4-BE49-F238E27FC236}">
                <a16:creationId xmlns:a16="http://schemas.microsoft.com/office/drawing/2014/main" id="{C35D693D-0708-42F7-995D-370974112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0260" y="1191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altLang="zh-CN" sz="2400" b="1">
                <a:solidFill>
                  <a:schemeClr val="lt1"/>
                </a:solidFill>
              </a:rPr>
              <a:t>Maximiz</a:t>
            </a:r>
            <a:r>
              <a:rPr lang="zh-CN" sz="2400" b="1">
                <a:solidFill>
                  <a:schemeClr val="lt1"/>
                </a:solidFill>
              </a:rPr>
              <a:t>ing </a:t>
            </a:r>
            <a:r>
              <a:rPr lang="en-US" altLang="zh-CN" sz="2400" b="1">
                <a:solidFill>
                  <a:schemeClr val="lt1"/>
                </a:solidFill>
              </a:rPr>
              <a:t>V</a:t>
            </a:r>
            <a:r>
              <a:rPr lang="zh-CN" sz="2400" b="1">
                <a:solidFill>
                  <a:schemeClr val="lt1"/>
                </a:solidFill>
              </a:rPr>
              <a:t>al</a:t>
            </a:r>
            <a:r>
              <a:rPr lang="en-US" altLang="zh-CN" sz="2400" b="1">
                <a:solidFill>
                  <a:schemeClr val="lt1"/>
                </a:solidFill>
              </a:rPr>
              <a:t>ue</a:t>
            </a:r>
            <a:r>
              <a:rPr lang="zh-CN" altLang="en-US" sz="2400" b="1" dirty="0">
                <a:solidFill>
                  <a:schemeClr val="lt1"/>
                </a:solidFill>
              </a:rPr>
              <a:t> </a:t>
            </a:r>
            <a:r>
              <a:rPr lang="en-US" altLang="zh-CN" sz="2400" b="1">
                <a:solidFill>
                  <a:schemeClr val="lt1"/>
                </a:solidFill>
              </a:rPr>
              <a:t>f</a:t>
            </a:r>
            <a:r>
              <a:rPr lang="zh-CN" sz="2400" b="1">
                <a:solidFill>
                  <a:schemeClr val="lt1"/>
                </a:solidFill>
              </a:rPr>
              <a:t>o</a:t>
            </a:r>
            <a:r>
              <a:rPr lang="en-US" altLang="zh-CN" sz="2400" b="1">
                <a:solidFill>
                  <a:schemeClr val="lt1"/>
                </a:solidFill>
              </a:rPr>
              <a:t>r</a:t>
            </a:r>
            <a:r>
              <a:rPr lang="zh-CN" altLang="en-US" sz="2400" b="1" dirty="0">
                <a:solidFill>
                  <a:schemeClr val="lt1"/>
                </a:solidFill>
              </a:rPr>
              <a:t> </a:t>
            </a:r>
            <a:r>
              <a:rPr lang="en-US" altLang="zh-CN" sz="2400" b="1">
                <a:solidFill>
                  <a:schemeClr val="lt1"/>
                </a:solidFill>
              </a:rPr>
              <a:t>l</a:t>
            </a:r>
            <a:r>
              <a:rPr lang="zh-CN" sz="2400" b="1">
                <a:solidFill>
                  <a:schemeClr val="lt1"/>
                </a:solidFill>
              </a:rPr>
              <a:t>oyal</a:t>
            </a:r>
            <a:r>
              <a:rPr lang="zh-CN" altLang="en-US" sz="2400" b="1">
                <a:solidFill>
                  <a:schemeClr val="lt1"/>
                </a:solidFill>
              </a:rPr>
              <a:t> </a:t>
            </a:r>
            <a:r>
              <a:rPr lang="en-US" altLang="zh-CN" sz="2400" b="1">
                <a:solidFill>
                  <a:schemeClr val="lt1"/>
                </a:solidFill>
              </a:rPr>
              <a:t>cus</a:t>
            </a:r>
            <a:r>
              <a:rPr lang="zh-CN" sz="2400" b="1">
                <a:solidFill>
                  <a:schemeClr val="lt1"/>
                </a:solidFill>
              </a:rPr>
              <a:t>to</a:t>
            </a:r>
            <a:r>
              <a:rPr lang="en-US" altLang="zh-CN" sz="2400" b="1">
                <a:solidFill>
                  <a:schemeClr val="lt1"/>
                </a:solidFill>
              </a:rPr>
              <a:t>mers</a:t>
            </a:r>
            <a:br>
              <a:rPr lang="zh-CN" altLang="en-US" sz="2400" b="1" dirty="0">
                <a:solidFill>
                  <a:schemeClr val="lt1"/>
                </a:solidFill>
              </a:rPr>
            </a:br>
            <a:r>
              <a:rPr lang="en-US" altLang="zh-CN" sz="2400" b="1">
                <a:solidFill>
                  <a:schemeClr val="lt1"/>
                </a:solidFill>
              </a:rPr>
              <a:t>Gold</a:t>
            </a:r>
            <a:r>
              <a:rPr lang="zh-CN" sz="2400" b="1">
                <a:solidFill>
                  <a:schemeClr val="lt1"/>
                </a:solidFill>
              </a:rPr>
              <a:t>en</a:t>
            </a:r>
            <a:r>
              <a:rPr lang="zh-CN" altLang="en-US" sz="2400" b="1">
                <a:solidFill>
                  <a:schemeClr val="lt1"/>
                </a:solidFill>
              </a:rPr>
              <a:t> </a:t>
            </a:r>
            <a:r>
              <a:rPr lang="en-US" altLang="zh-CN" sz="2400" b="1">
                <a:solidFill>
                  <a:schemeClr val="lt1"/>
                </a:solidFill>
              </a:rPr>
              <a:t>wh</a:t>
            </a:r>
            <a:r>
              <a:rPr lang="zh-CN" sz="2400" b="1">
                <a:solidFill>
                  <a:schemeClr val="lt1"/>
                </a:solidFill>
              </a:rPr>
              <a:t>al</a:t>
            </a:r>
            <a:r>
              <a:rPr lang="en-US" altLang="zh-CN" sz="2400" b="1">
                <a:solidFill>
                  <a:schemeClr val="lt1"/>
                </a:solidFill>
              </a:rPr>
              <a:t>es</a:t>
            </a:r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05" name="Google Shape;105;p18">
            <a:extLst>
              <a:ext uri="{FF2B5EF4-FFF2-40B4-BE49-F238E27FC236}">
                <a16:creationId xmlns:a16="http://schemas.microsoft.com/office/drawing/2014/main" id="{DE391658-2FF8-4DE9-BED2-527BC4277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790" y="1118870"/>
            <a:ext cx="4691380" cy="389636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800"/>
              </a:spcBef>
              <a:buClr>
                <a:schemeClr val="dk1"/>
              </a:buClr>
              <a:buSzPts val="1100"/>
              <a:buNone/>
            </a:pPr>
            <a:r>
              <a:rPr lang="zh-CN" sz="1300" b="1" dirty="0">
                <a:solidFill>
                  <a:schemeClr val="dk1"/>
                </a:solidFill>
              </a:rPr>
              <a:t>📌 </a:t>
            </a:r>
            <a:r>
              <a:rPr lang="en-US" altLang="zh-CN" sz="1300" b="1" dirty="0">
                <a:solidFill>
                  <a:schemeClr val="dk1"/>
                </a:solidFill>
              </a:rPr>
              <a:t> Golden</a:t>
            </a:r>
            <a:r>
              <a:rPr lang="zh-CN" altLang="en-US" sz="1300" b="1" dirty="0">
                <a:solidFill>
                  <a:schemeClr val="dk1"/>
                </a:solidFill>
              </a:rPr>
              <a:t> </a:t>
            </a:r>
            <a:r>
              <a:rPr lang="en-US" altLang="zh-CN" sz="1300" b="1" dirty="0">
                <a:solidFill>
                  <a:schemeClr val="dk1"/>
                </a:solidFill>
              </a:rPr>
              <a:t>Whales</a:t>
            </a:r>
            <a:r>
              <a:rPr lang="zh-CN" altLang="en-US" sz="1300" b="1" dirty="0">
                <a:solidFill>
                  <a:schemeClr val="dk1"/>
                </a:solidFill>
              </a:rPr>
              <a:t> </a:t>
            </a:r>
            <a:r>
              <a:rPr lang="en-US" altLang="zh-CN" sz="1300" b="1" dirty="0">
                <a:solidFill>
                  <a:schemeClr val="dk1"/>
                </a:solidFill>
              </a:rPr>
              <a:t>Strategy</a:t>
            </a:r>
            <a:endParaRPr sz="1300" b="1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altLang="zh-CN" sz="1100" dirty="0">
                <a:solidFill>
                  <a:schemeClr val="dk1"/>
                </a:solidFill>
              </a:rPr>
              <a:t>Most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valuable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users:</a:t>
            </a:r>
            <a:r>
              <a:rPr lang="zh-CN" sz="1100" dirty="0">
                <a:solidFill>
                  <a:schemeClr val="dk1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high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frequency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+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strong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AOV</a:t>
            </a:r>
            <a:endParaRPr sz="1100" b="1" dirty="0">
              <a:solidFill>
                <a:srgbClr val="C00000"/>
              </a:solidFill>
            </a:endParaRPr>
          </a:p>
          <a:p>
            <a:pPr indent="-298450">
              <a:lnSpc>
                <a:spcPct val="100000"/>
              </a:lnSpc>
              <a:buClr>
                <a:schemeClr val="dk1"/>
              </a:buClr>
              <a:buSzPts val="1100"/>
            </a:pPr>
            <a:r>
              <a:rPr lang="en-US" altLang="zh-CN" sz="1100" dirty="0">
                <a:solidFill>
                  <a:schemeClr val="dk1"/>
                </a:solidFill>
              </a:rPr>
              <a:t>Goal:</a:t>
            </a:r>
            <a:r>
              <a:rPr lang="zh-CN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Nudge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incremental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spend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dirty="0">
                <a:solidFill>
                  <a:schemeClr val="dk1"/>
                </a:solidFill>
              </a:rPr>
              <a:t>📊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Data Insight</a:t>
            </a:r>
            <a:endParaRPr sz="1100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altLang="zh-CN" sz="1100" dirty="0">
                <a:solidFill>
                  <a:schemeClr val="dk1"/>
                </a:solidFill>
              </a:rPr>
              <a:t>1. signal: historical AOV</a:t>
            </a:r>
            <a:endParaRPr sz="1100" b="1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buClr>
                <a:srgbClr val="000000"/>
              </a:buClr>
              <a:buSzPts val="1100"/>
            </a:pPr>
            <a:r>
              <a:rPr lang="en-US" altLang="zh-CN" sz="1100" dirty="0">
                <a:solidFill>
                  <a:schemeClr val="dk1"/>
                </a:solidFill>
              </a:rPr>
              <a:t>2. signal: recent activity (events_last_30d) → hot engagement window</a:t>
            </a:r>
            <a:endParaRPr lang="zh-CN" altLang="zh-CN" sz="1100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buClr>
                <a:srgbClr val="000000"/>
              </a:buClr>
              <a:buSzPts val="1100"/>
            </a:pPr>
            <a:r>
              <a:rPr lang="en-US" sz="1100" dirty="0">
                <a:solidFill>
                  <a:schemeClr val="dk1"/>
                </a:solidFill>
              </a:rPr>
              <a:t>small, targeted incentives</a:t>
            </a:r>
            <a:endParaRPr lang="en-US" altLang="zh-CN" sz="11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800"/>
              </a:spcBef>
              <a:buClr>
                <a:srgbClr val="595959"/>
              </a:buClr>
              <a:buNone/>
            </a:pPr>
            <a:r>
              <a:rPr lang="zh-CN" sz="1300" b="1" dirty="0">
                <a:solidFill>
                  <a:schemeClr val="dk1"/>
                </a:solidFill>
              </a:rPr>
              <a:t>🎯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Action: </a:t>
            </a:r>
            <a:r>
              <a:rPr lang="en-US" altLang="zh-CN" sz="1300" b="1" dirty="0">
                <a:solidFill>
                  <a:schemeClr val="tx1"/>
                </a:solidFill>
              </a:rPr>
              <a:t>Th</a:t>
            </a:r>
            <a:r>
              <a:rPr lang="zh-CN" sz="1300" b="1" dirty="0">
                <a:solidFill>
                  <a:schemeClr val="tx1"/>
                </a:solidFill>
              </a:rPr>
              <a:t>re</a:t>
            </a:r>
            <a:r>
              <a:rPr lang="en-US" altLang="zh-CN" sz="1300" b="1" dirty="0" err="1">
                <a:solidFill>
                  <a:schemeClr val="tx1"/>
                </a:solidFill>
              </a:rPr>
              <a:t>sh</a:t>
            </a:r>
            <a:r>
              <a:rPr lang="zh-CN" sz="1300" b="1" dirty="0">
                <a:solidFill>
                  <a:schemeClr val="tx1"/>
                </a:solidFill>
              </a:rPr>
              <a:t>o</a:t>
            </a:r>
            <a:r>
              <a:rPr lang="en-US" altLang="zh-CN" sz="1300" b="1" dirty="0" err="1">
                <a:solidFill>
                  <a:schemeClr val="tx1"/>
                </a:solidFill>
              </a:rPr>
              <a:t>ld</a:t>
            </a:r>
            <a:r>
              <a:rPr lang="zh-CN" altLang="en-US" sz="1300" b="1" dirty="0">
                <a:solidFill>
                  <a:schemeClr val="tx1"/>
                </a:solidFill>
              </a:rPr>
              <a:t> </a:t>
            </a:r>
            <a:r>
              <a:rPr lang="en-US" altLang="zh-CN" sz="1300" b="1" dirty="0" err="1">
                <a:solidFill>
                  <a:schemeClr val="tx1"/>
                </a:solidFill>
              </a:rPr>
              <a:t>Nudg</a:t>
            </a:r>
            <a:r>
              <a:rPr lang="zh-CN" sz="1300" b="1" dirty="0">
                <a:solidFill>
                  <a:schemeClr val="tx1"/>
                </a:solidFill>
              </a:rPr>
              <a:t>e</a:t>
            </a:r>
            <a:endParaRPr sz="1300" dirty="0">
              <a:solidFill>
                <a:schemeClr val="tx1"/>
              </a:solidFill>
            </a:endParaRPr>
          </a:p>
          <a:p>
            <a:pPr indent="-298450">
              <a:lnSpc>
                <a:spcPct val="100000"/>
              </a:lnSpc>
              <a:buClr>
                <a:schemeClr val="dk1"/>
              </a:buClr>
              <a:buSzPts val="1100"/>
            </a:pPr>
            <a:r>
              <a:rPr lang="en-US" altLang="zh-CN" sz="1100" dirty="0" err="1">
                <a:solidFill>
                  <a:schemeClr val="dk1"/>
                </a:solidFill>
              </a:rPr>
              <a:t>Thr</a:t>
            </a:r>
            <a:r>
              <a:rPr lang="zh-CN" sz="1100" dirty="0">
                <a:solidFill>
                  <a:schemeClr val="dk1"/>
                </a:solidFill>
              </a:rPr>
              <a:t>es</a:t>
            </a:r>
            <a:r>
              <a:rPr lang="en-US" altLang="zh-CN" sz="1100" dirty="0">
                <a:solidFill>
                  <a:schemeClr val="dk1"/>
                </a:solidFill>
              </a:rPr>
              <a:t>hold</a:t>
            </a:r>
            <a:r>
              <a:rPr lang="zh-CN" altLang="en-US" sz="1100" dirty="0">
                <a:solidFill>
                  <a:schemeClr val="dk1"/>
                </a:solidFill>
              </a:rPr>
              <a:t> ≈ </a:t>
            </a:r>
            <a:r>
              <a:rPr lang="en-US" altLang="zh-CN" sz="1100" b="1" dirty="0">
                <a:solidFill>
                  <a:srgbClr val="C00000"/>
                </a:solidFill>
              </a:rPr>
              <a:t>1</a:t>
            </a:r>
            <a:r>
              <a:rPr lang="zh-CN" sz="1100" b="1" dirty="0">
                <a:solidFill>
                  <a:srgbClr val="C00000"/>
                </a:solidFill>
              </a:rPr>
              <a:t>0</a:t>
            </a:r>
            <a:r>
              <a:rPr lang="en-US" altLang="zh-CN" sz="1100" b="1" dirty="0">
                <a:solidFill>
                  <a:srgbClr val="C00000"/>
                </a:solidFill>
              </a:rPr>
              <a:t>%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above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avg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 err="1">
                <a:solidFill>
                  <a:srgbClr val="C00000"/>
                </a:solidFill>
              </a:rPr>
              <a:t>ord</a:t>
            </a:r>
            <a:r>
              <a:rPr lang="zh-CN" sz="1100" b="1" dirty="0">
                <a:solidFill>
                  <a:srgbClr val="C00000"/>
                </a:solidFill>
              </a:rPr>
              <a:t>e</a:t>
            </a:r>
            <a:r>
              <a:rPr lang="en-US" altLang="zh-CN" sz="1100" b="1" dirty="0">
                <a:solidFill>
                  <a:srgbClr val="C00000"/>
                </a:solidFill>
              </a:rPr>
              <a:t>r</a:t>
            </a:r>
            <a:endParaRPr sz="1100" b="1" dirty="0">
              <a:solidFill>
                <a:srgbClr val="C00000"/>
              </a:solidFill>
            </a:endParaRPr>
          </a:p>
          <a:p>
            <a:pPr indent="-298450">
              <a:lnSpc>
                <a:spcPct val="100000"/>
              </a:lnSpc>
              <a:buClr>
                <a:schemeClr val="dk1"/>
              </a:buClr>
              <a:buSzPts val="1100"/>
            </a:pPr>
            <a:r>
              <a:rPr lang="en-US" altLang="zh-CN" sz="1100" dirty="0">
                <a:solidFill>
                  <a:schemeClr val="tx1"/>
                </a:solidFill>
              </a:rPr>
              <a:t>Example: </a:t>
            </a:r>
            <a:r>
              <a:rPr lang="zh-CN" altLang="en-US" sz="1100" dirty="0">
                <a:solidFill>
                  <a:schemeClr val="dk1"/>
                </a:solidFill>
              </a:rPr>
              <a:t>“</a:t>
            </a:r>
            <a:r>
              <a:rPr lang="en-US" sz="1100" dirty="0">
                <a:solidFill>
                  <a:schemeClr val="dk1"/>
                </a:solidFill>
              </a:rPr>
              <a:t>Spe</a:t>
            </a:r>
            <a:r>
              <a:rPr lang="en-US" altLang="zh-CN" sz="1100" dirty="0">
                <a:solidFill>
                  <a:schemeClr val="dk1"/>
                </a:solidFill>
              </a:rPr>
              <a:t>n</a:t>
            </a:r>
            <a:r>
              <a:rPr lang="en-US" sz="1100" dirty="0">
                <a:solidFill>
                  <a:schemeClr val="dk1"/>
                </a:solidFill>
              </a:rPr>
              <a:t>d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20 SGD more,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get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10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SGD</a:t>
            </a:r>
            <a:r>
              <a:rPr lang="zh-CN" altLang="en-US" sz="1100" dirty="0">
                <a:solidFill>
                  <a:schemeClr val="dk1"/>
                </a:solidFill>
              </a:rPr>
              <a:t> </a:t>
            </a:r>
            <a:r>
              <a:rPr lang="en-US" altLang="zh-CN" sz="1100" dirty="0">
                <a:solidFill>
                  <a:schemeClr val="dk1"/>
                </a:solidFill>
              </a:rPr>
              <a:t>o</a:t>
            </a:r>
            <a:r>
              <a:rPr lang="en-US" sz="1100" dirty="0">
                <a:solidFill>
                  <a:schemeClr val="dk1"/>
                </a:solidFill>
              </a:rPr>
              <a:t>ff</a:t>
            </a:r>
            <a:r>
              <a:rPr lang="zh-CN" altLang="en-US" sz="1100" dirty="0">
                <a:solidFill>
                  <a:schemeClr val="dk1"/>
                </a:solidFill>
              </a:rPr>
              <a:t>”</a:t>
            </a:r>
            <a:endParaRPr lang="en-US" altLang="zh-CN" sz="1100" b="1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buClr>
                <a:schemeClr val="dk1"/>
              </a:buClr>
              <a:buSzPts val="1100"/>
            </a:pPr>
            <a:r>
              <a:rPr lang="en-US" altLang="zh-CN" sz="1100" dirty="0">
                <a:solidFill>
                  <a:schemeClr val="dk1"/>
                </a:solidFill>
              </a:rPr>
              <a:t>R</a:t>
            </a:r>
            <a:r>
              <a:rPr lang="zh-CN" sz="1100" dirty="0">
                <a:solidFill>
                  <a:schemeClr val="dk1"/>
                </a:solidFill>
              </a:rPr>
              <a:t>e</a:t>
            </a:r>
            <a:r>
              <a:rPr lang="en-US" altLang="zh-CN" sz="1100" dirty="0" err="1">
                <a:solidFill>
                  <a:schemeClr val="dk1"/>
                </a:solidFill>
              </a:rPr>
              <a:t>achab</a:t>
            </a:r>
            <a:r>
              <a:rPr lang="zh-CN" sz="1100" dirty="0">
                <a:solidFill>
                  <a:schemeClr val="dk1"/>
                </a:solidFill>
              </a:rPr>
              <a:t>le</a:t>
            </a:r>
            <a:r>
              <a:rPr lang="zh-CN" altLang="en-US" sz="1100" dirty="0">
                <a:solidFill>
                  <a:schemeClr val="dk1"/>
                </a:solidFill>
              </a:rPr>
              <a:t> → </a:t>
            </a:r>
            <a:r>
              <a:rPr lang="en-US" altLang="zh-CN" sz="1100" dirty="0" err="1">
                <a:solidFill>
                  <a:schemeClr val="dk1"/>
                </a:solidFill>
              </a:rPr>
              <a:t>en</a:t>
            </a:r>
            <a:r>
              <a:rPr lang="zh-CN" sz="1100" dirty="0">
                <a:solidFill>
                  <a:schemeClr val="dk1"/>
                </a:solidFill>
              </a:rPr>
              <a:t>c</a:t>
            </a:r>
            <a:r>
              <a:rPr lang="en-US" altLang="zh-CN" sz="1100" dirty="0" err="1">
                <a:solidFill>
                  <a:schemeClr val="dk1"/>
                </a:solidFill>
              </a:rPr>
              <a:t>ou</a:t>
            </a:r>
            <a:r>
              <a:rPr lang="zh-CN" sz="1100" dirty="0">
                <a:solidFill>
                  <a:schemeClr val="dk1"/>
                </a:solidFill>
              </a:rPr>
              <a:t>r</a:t>
            </a:r>
            <a:r>
              <a:rPr lang="en-US" altLang="zh-CN" sz="1100" dirty="0">
                <a:solidFill>
                  <a:schemeClr val="dk1"/>
                </a:solidFill>
              </a:rPr>
              <a:t>a</a:t>
            </a:r>
            <a:r>
              <a:rPr lang="zh-CN" sz="1100" dirty="0">
                <a:solidFill>
                  <a:schemeClr val="dk1"/>
                </a:solidFill>
              </a:rPr>
              <a:t>g</a:t>
            </a:r>
            <a:r>
              <a:rPr lang="en-US" altLang="zh-CN" sz="1100" dirty="0">
                <a:solidFill>
                  <a:schemeClr val="dk1"/>
                </a:solidFill>
              </a:rPr>
              <a:t>es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o</a:t>
            </a:r>
            <a:r>
              <a:rPr lang="zh-CN" sz="1100" b="1" dirty="0">
                <a:solidFill>
                  <a:srgbClr val="C00000"/>
                </a:solidFill>
              </a:rPr>
              <a:t>n</a:t>
            </a:r>
            <a:r>
              <a:rPr lang="en-US" altLang="zh-CN" sz="1100" b="1" dirty="0">
                <a:solidFill>
                  <a:srgbClr val="C00000"/>
                </a:solidFill>
              </a:rPr>
              <a:t>e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m</a:t>
            </a:r>
            <a:r>
              <a:rPr lang="zh-CN" sz="1100" b="1" dirty="0">
                <a:solidFill>
                  <a:srgbClr val="C00000"/>
                </a:solidFill>
              </a:rPr>
              <a:t>o</a:t>
            </a:r>
            <a:r>
              <a:rPr lang="en-US" altLang="zh-CN" sz="1100" b="1" dirty="0">
                <a:solidFill>
                  <a:srgbClr val="C00000"/>
                </a:solidFill>
              </a:rPr>
              <a:t>re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 err="1">
                <a:solidFill>
                  <a:srgbClr val="C00000"/>
                </a:solidFill>
              </a:rPr>
              <a:t>i</a:t>
            </a:r>
            <a:r>
              <a:rPr lang="zh-CN" sz="1100" b="1" dirty="0">
                <a:solidFill>
                  <a:srgbClr val="C00000"/>
                </a:solidFill>
              </a:rPr>
              <a:t>t</a:t>
            </a:r>
            <a:r>
              <a:rPr lang="en-US" altLang="zh-CN" sz="1100" b="1" dirty="0" err="1">
                <a:solidFill>
                  <a:srgbClr val="C00000"/>
                </a:solidFill>
              </a:rPr>
              <a:t>em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dirty="0">
                <a:solidFill>
                  <a:schemeClr val="dk1"/>
                </a:solidFill>
              </a:rPr>
              <a:t>💰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Impact</a:t>
            </a:r>
            <a:endParaRPr sz="1300" b="1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altLang="zh-CN" sz="1100" b="1" dirty="0">
                <a:solidFill>
                  <a:srgbClr val="C00000"/>
                </a:solidFill>
              </a:rPr>
              <a:t>+SGD 8077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zh-CN" sz="1100" b="1" dirty="0">
                <a:solidFill>
                  <a:srgbClr val="C00000"/>
                </a:solidFill>
              </a:rPr>
              <a:t>i</a:t>
            </a:r>
            <a:r>
              <a:rPr lang="en-US" altLang="zh-CN" sz="1100" b="1" dirty="0" err="1">
                <a:solidFill>
                  <a:srgbClr val="C00000"/>
                </a:solidFill>
              </a:rPr>
              <a:t>ncremen</a:t>
            </a:r>
            <a:r>
              <a:rPr lang="zh-CN" sz="1100" b="1" dirty="0">
                <a:solidFill>
                  <a:srgbClr val="C00000"/>
                </a:solidFill>
              </a:rPr>
              <a:t>t</a:t>
            </a:r>
            <a:r>
              <a:rPr lang="en-US" altLang="zh-CN" sz="1100" b="1" dirty="0">
                <a:solidFill>
                  <a:srgbClr val="C00000"/>
                </a:solidFill>
              </a:rPr>
              <a:t>al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revenue</a:t>
            </a:r>
            <a:endParaRPr sz="1100" b="1" dirty="0">
              <a:solidFill>
                <a:srgbClr val="C00000"/>
              </a:solidFill>
            </a:endParaRPr>
          </a:p>
          <a:p>
            <a:pPr indent="-298450">
              <a:lnSpc>
                <a:spcPct val="100000"/>
              </a:lnSpc>
              <a:buClr>
                <a:schemeClr val="dk1"/>
              </a:buClr>
              <a:buSzPts val="1100"/>
            </a:pPr>
            <a:r>
              <a:rPr lang="en-US" altLang="zh-CN" sz="1100" dirty="0">
                <a:solidFill>
                  <a:schemeClr val="dk1"/>
                </a:solidFill>
              </a:rPr>
              <a:t>On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zh-CN" sz="1100" dirty="0">
                <a:solidFill>
                  <a:schemeClr val="dk1"/>
                </a:solidFill>
              </a:rPr>
              <a:t>top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of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 err="1">
                <a:solidFill>
                  <a:schemeClr val="dk1"/>
                </a:solidFill>
              </a:rPr>
              <a:t>hig</a:t>
            </a:r>
            <a:r>
              <a:rPr lang="zh-CN" sz="1100" dirty="0">
                <a:solidFill>
                  <a:schemeClr val="dk1"/>
                </a:solidFill>
              </a:rPr>
              <a:t>h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altLang="zh-CN" sz="1100" dirty="0">
                <a:solidFill>
                  <a:schemeClr val="dk1"/>
                </a:solidFill>
              </a:rPr>
              <a:t>b</a:t>
            </a:r>
            <a:r>
              <a:rPr lang="zh-CN" sz="1100" dirty="0">
                <a:solidFill>
                  <a:schemeClr val="dk1"/>
                </a:solidFill>
              </a:rPr>
              <a:t>as</a:t>
            </a:r>
            <a:r>
              <a:rPr lang="en-US" altLang="zh-CN" sz="1100" dirty="0" err="1">
                <a:solidFill>
                  <a:schemeClr val="dk1"/>
                </a:solidFill>
              </a:rPr>
              <a:t>elin</a:t>
            </a:r>
            <a:r>
              <a:rPr lang="zh-CN" sz="1100" dirty="0">
                <a:solidFill>
                  <a:schemeClr val="dk1"/>
                </a:solidFill>
              </a:rPr>
              <a:t>e</a:t>
            </a:r>
            <a:endParaRPr sz="1100" dirty="0">
              <a:solidFill>
                <a:schemeClr val="dk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zh-CN" sz="1300" b="1" dirty="0">
              <a:solidFill>
                <a:srgbClr val="000000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endParaRPr sz="1100" dirty="0">
              <a:solidFill>
                <a:srgbClr val="595959"/>
              </a:solidFill>
            </a:endParaRPr>
          </a:p>
        </p:txBody>
      </p:sp>
      <p:pic>
        <p:nvPicPr>
          <p:cNvPr id="4" name="Google Shape;98;p17" descr="图表, 散点图&#10;&#10;AI 生成的内容可能不正确。" title="will_repurchase_shap_summary_user_level_golden_whales.png">
            <a:extLst>
              <a:ext uri="{FF2B5EF4-FFF2-40B4-BE49-F238E27FC236}">
                <a16:creationId xmlns:a16="http://schemas.microsoft.com/office/drawing/2014/main" id="{442549DB-D8FE-2577-53C8-2B2CE076859F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53300" y="1202102"/>
            <a:ext cx="4490085" cy="34874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9;p17">
            <a:extLst>
              <a:ext uri="{FF2B5EF4-FFF2-40B4-BE49-F238E27FC236}">
                <a16:creationId xmlns:a16="http://schemas.microsoft.com/office/drawing/2014/main" id="{8506294E-9A20-B5EC-9B67-3E3BD9573EA4}"/>
              </a:ext>
            </a:extLst>
          </p:cNvPr>
          <p:cNvSpPr/>
          <p:nvPr/>
        </p:nvSpPr>
        <p:spPr>
          <a:xfrm>
            <a:off x="4653300" y="1703261"/>
            <a:ext cx="4073196" cy="1705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99;p17">
            <a:extLst>
              <a:ext uri="{FF2B5EF4-FFF2-40B4-BE49-F238E27FC236}">
                <a16:creationId xmlns:a16="http://schemas.microsoft.com/office/drawing/2014/main" id="{5179A230-A747-9771-F34C-54596CAEC07E}"/>
              </a:ext>
            </a:extLst>
          </p:cNvPr>
          <p:cNvSpPr/>
          <p:nvPr/>
        </p:nvSpPr>
        <p:spPr>
          <a:xfrm>
            <a:off x="4653300" y="1935937"/>
            <a:ext cx="4083492" cy="2014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61F117-6110-C45F-8FFE-5D5115DB88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13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220260" y="1191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400" b="1">
                <a:solidFill>
                  <a:schemeClr val="lt1"/>
                </a:solidFill>
              </a:rPr>
              <a:t>Converting Potential into Loyalty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400" b="1">
                <a:solidFill>
                  <a:schemeClr val="lt1"/>
                </a:solidFill>
              </a:rPr>
              <a:t>High potential</a:t>
            </a:r>
            <a:endParaRPr sz="2400" b="1">
              <a:solidFill>
                <a:schemeClr val="lt1"/>
              </a:solidFill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97790" y="1118870"/>
            <a:ext cx="4691380" cy="3896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300" b="1" dirty="0">
                <a:solidFill>
                  <a:schemeClr val="dk1"/>
                </a:solidFill>
              </a:rPr>
              <a:t>📌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High Potential Strategy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Future growth users: </a:t>
            </a:r>
            <a:r>
              <a:rPr lang="zh-CN" sz="1100" b="1" dirty="0">
                <a:solidFill>
                  <a:srgbClr val="C00000"/>
                </a:solidFill>
              </a:rPr>
              <a:t>clear preference, no strong purchase habit</a:t>
            </a:r>
            <a:endParaRPr sz="1100" b="1" dirty="0">
              <a:solidFill>
                <a:srgbClr val="C00000"/>
              </a:solidFill>
            </a:endParaRPr>
          </a:p>
          <a:p>
            <a:pPr lvl="0" indent="-298450">
              <a:lnSpc>
                <a:spcPct val="100000"/>
              </a:lnSpc>
              <a:buClr>
                <a:schemeClr val="dk1"/>
              </a:buClr>
              <a:buSzPts val="1100"/>
            </a:pPr>
            <a:r>
              <a:rPr lang="zh-CN" sz="1100" dirty="0">
                <a:solidFill>
                  <a:schemeClr val="dk1"/>
                </a:solidFill>
              </a:rPr>
              <a:t>Goal: </a:t>
            </a:r>
            <a:r>
              <a:rPr lang="zh-CN" sz="1100" b="1" dirty="0">
                <a:solidFill>
                  <a:srgbClr val="C00000"/>
                </a:solidFill>
              </a:rPr>
              <a:t>build </a:t>
            </a:r>
            <a:r>
              <a:rPr lang="en-US" altLang="zh-CN" sz="1100" b="1" dirty="0">
                <a:solidFill>
                  <a:srgbClr val="C00000"/>
                </a:solidFill>
              </a:rPr>
              <a:t>loyalty, see them as the future of our brand</a:t>
            </a:r>
            <a:endParaRPr sz="1100" b="1" dirty="0">
              <a:solidFill>
                <a:srgbClr val="C00000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dirty="0">
                <a:solidFill>
                  <a:schemeClr val="dk1"/>
                </a:solidFill>
              </a:rPr>
              <a:t>📊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Data Insight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altLang="zh-CN" sz="1100" dirty="0">
                <a:solidFill>
                  <a:schemeClr val="dk1"/>
                </a:solidFill>
              </a:rPr>
              <a:t>1. </a:t>
            </a:r>
            <a:r>
              <a:rPr lang="zh-CN" sz="1100" dirty="0">
                <a:solidFill>
                  <a:schemeClr val="dk1"/>
                </a:solidFill>
              </a:rPr>
              <a:t>signal:</a:t>
            </a:r>
            <a:r>
              <a:rPr lang="zh-CN" sz="1100" dirty="0">
                <a:solidFill>
                  <a:srgbClr val="C00000"/>
                </a:solidFill>
              </a:rPr>
              <a:t> </a:t>
            </a:r>
            <a:r>
              <a:rPr lang="zh-CN" sz="1100" b="1" dirty="0">
                <a:solidFill>
                  <a:srgbClr val="C00000"/>
                </a:solidFill>
              </a:rPr>
              <a:t>is_first_order</a:t>
            </a:r>
            <a:r>
              <a:rPr lang="zh-CN" sz="1100" b="1" dirty="0">
                <a:solidFill>
                  <a:schemeClr val="dk1"/>
                </a:solidFill>
              </a:rPr>
              <a:t> </a:t>
            </a:r>
            <a:r>
              <a:rPr lang="zh-CN" sz="1100" b="1" dirty="0">
                <a:solidFill>
                  <a:srgbClr val="C00000"/>
                </a:solidFill>
              </a:rPr>
              <a:t>→</a:t>
            </a:r>
            <a:r>
              <a:rPr lang="zh-CN" sz="1100" b="1" dirty="0">
                <a:solidFill>
                  <a:schemeClr val="dk1"/>
                </a:solidFill>
              </a:rPr>
              <a:t> </a:t>
            </a:r>
            <a:r>
              <a:rPr lang="zh-CN" sz="1100" b="1" dirty="0">
                <a:solidFill>
                  <a:srgbClr val="C00000"/>
                </a:solidFill>
              </a:rPr>
              <a:t>strong positive impact</a:t>
            </a:r>
            <a:r>
              <a:rPr lang="zh-CN" sz="1100" dirty="0">
                <a:solidFill>
                  <a:schemeClr val="dk1"/>
                </a:solidFill>
              </a:rPr>
              <a:t>→ many are </a:t>
            </a:r>
            <a:r>
              <a:rPr lang="zh-CN" sz="1100" b="1" dirty="0">
                <a:solidFill>
                  <a:srgbClr val="C00000"/>
                </a:solidFill>
              </a:rPr>
              <a:t>high-quality new customers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First orders are the best moment to </a:t>
            </a:r>
            <a:r>
              <a:rPr lang="en-US" altLang="zh-CN" sz="1100" dirty="0">
                <a:solidFill>
                  <a:schemeClr val="dk1"/>
                </a:solidFill>
              </a:rPr>
              <a:t>encourage customers to buy more</a:t>
            </a:r>
            <a:r>
              <a:rPr lang="zh-CN" sz="1100" dirty="0">
                <a:solidFill>
                  <a:schemeClr val="dk1"/>
                </a:solidFill>
              </a:rPr>
              <a:t> and </a:t>
            </a:r>
            <a:r>
              <a:rPr lang="en-US" altLang="zh-CN" sz="1100" dirty="0">
                <a:solidFill>
                  <a:schemeClr val="dk1"/>
                </a:solidFill>
              </a:rPr>
              <a:t>c</a:t>
            </a:r>
            <a:r>
              <a:rPr lang="zh-CN" sz="1100" dirty="0">
                <a:solidFill>
                  <a:schemeClr val="dk1"/>
                </a:solidFill>
              </a:rPr>
              <a:t>ultivate their brand loyalty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dirty="0">
                <a:solidFill>
                  <a:schemeClr val="dk1"/>
                </a:solidFill>
              </a:rPr>
              <a:t>🎯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Action: Buy More, Save More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Encourage stock-up in early orders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Example: </a:t>
            </a:r>
            <a:r>
              <a:rPr lang="zh-CN" sz="1100" b="1" dirty="0">
                <a:solidFill>
                  <a:srgbClr val="C00000"/>
                </a:solidFill>
              </a:rPr>
              <a:t>1 item = $12 → 2 items = $20 →  3 items = $24</a:t>
            </a:r>
            <a:endParaRPr sz="1100" b="1" dirty="0">
              <a:solidFill>
                <a:srgbClr val="C00000"/>
              </a:solidFill>
            </a:endParaRPr>
          </a:p>
          <a:p>
            <a:pPr marL="457200" marR="0" lvl="0" indent="-298450" algn="l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Let users feel declining marginal cost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300" b="1" dirty="0">
                <a:solidFill>
                  <a:schemeClr val="dk1"/>
                </a:solidFill>
              </a:rPr>
              <a:t>💰 </a:t>
            </a:r>
            <a:r>
              <a:rPr lang="en-US" altLang="zh-CN" sz="13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Impact</a:t>
            </a:r>
            <a:endParaRPr sz="1300" b="1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rgbClr val="595959"/>
              </a:buClr>
              <a:buFont typeface="Arial,Sans-Serif"/>
            </a:pPr>
            <a:r>
              <a:rPr lang="en-US" sz="1100" b="1" dirty="0">
                <a:solidFill>
                  <a:srgbClr val="C00000"/>
                </a:solidFill>
              </a:rPr>
              <a:t>+SGD </a:t>
            </a:r>
            <a:r>
              <a:rPr lang="en-US" altLang="zh-CN" sz="1100" b="1" dirty="0">
                <a:solidFill>
                  <a:srgbClr val="C00000"/>
                </a:solidFill>
              </a:rPr>
              <a:t>1</a:t>
            </a:r>
            <a:r>
              <a:rPr lang="zh-CN" sz="1100" b="1" dirty="0">
                <a:solidFill>
                  <a:srgbClr val="C00000"/>
                </a:solidFill>
              </a:rPr>
              <a:t>2</a:t>
            </a:r>
            <a:r>
              <a:rPr lang="en-US" sz="1100" b="1" dirty="0">
                <a:solidFill>
                  <a:srgbClr val="C00000"/>
                </a:solidFill>
              </a:rPr>
              <a:t>,32</a:t>
            </a:r>
            <a:r>
              <a:rPr lang="en-US" altLang="zh-CN" sz="1100" b="1" dirty="0">
                <a:solidFill>
                  <a:srgbClr val="C00000"/>
                </a:solidFill>
              </a:rPr>
              <a:t>2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altLang="zh-CN" sz="1100" b="1" dirty="0">
                <a:solidFill>
                  <a:srgbClr val="C00000"/>
                </a:solidFill>
              </a:rPr>
              <a:t>increm</a:t>
            </a:r>
            <a:r>
              <a:rPr lang="en-US" sz="1100" b="1" dirty="0">
                <a:solidFill>
                  <a:srgbClr val="C00000"/>
                </a:solidFill>
              </a:rPr>
              <a:t>en</a:t>
            </a:r>
            <a:r>
              <a:rPr lang="en-US" altLang="zh-CN" sz="1100" b="1" dirty="0">
                <a:solidFill>
                  <a:srgbClr val="C00000"/>
                </a:solidFill>
              </a:rPr>
              <a:t>t</a:t>
            </a:r>
            <a:r>
              <a:rPr lang="en-US" sz="1100" b="1" dirty="0">
                <a:solidFill>
                  <a:srgbClr val="C00000"/>
                </a:solidFill>
              </a:rPr>
              <a:t>al</a:t>
            </a:r>
            <a:r>
              <a:rPr lang="zh-CN" altLang="en-US" sz="1100" b="1" dirty="0">
                <a:solidFill>
                  <a:srgbClr val="C00000"/>
                </a:solidFill>
              </a:rPr>
              <a:t> </a:t>
            </a:r>
            <a:r>
              <a:rPr lang="en-US" sz="1100" b="1" dirty="0">
                <a:solidFill>
                  <a:srgbClr val="C00000"/>
                </a:solidFill>
              </a:rPr>
              <a:t>revenu</a:t>
            </a:r>
            <a:r>
              <a:rPr lang="en-US" altLang="zh-CN" sz="1100" b="1" dirty="0">
                <a:solidFill>
                  <a:srgbClr val="C00000"/>
                </a:solidFill>
              </a:rPr>
              <a:t>e</a:t>
            </a:r>
            <a:endParaRPr lang="en-US" sz="1100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buClr>
                <a:srgbClr val="595959"/>
              </a:buClr>
              <a:buFont typeface="Arial,Sans-Serif"/>
            </a:pPr>
            <a:r>
              <a:rPr lang="en-US" sz="1100" dirty="0">
                <a:solidFill>
                  <a:schemeClr val="dk1"/>
                </a:solidFill>
              </a:rPr>
              <a:t>AOV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zh-CN" sz="1100" dirty="0">
                <a:solidFill>
                  <a:schemeClr val="dk1"/>
                </a:solidFill>
              </a:rPr>
              <a:t>u</a:t>
            </a:r>
            <a:r>
              <a:rPr lang="en-US" altLang="zh-CN" sz="1100" dirty="0" err="1">
                <a:solidFill>
                  <a:schemeClr val="dk1"/>
                </a:solidFill>
              </a:rPr>
              <a:t>p</a:t>
            </a:r>
            <a:r>
              <a:rPr lang="en-US" sz="1100" dirty="0" err="1">
                <a:solidFill>
                  <a:schemeClr val="dk1"/>
                </a:solidFill>
              </a:rPr>
              <a:t>lift</a:t>
            </a:r>
            <a:r>
              <a:rPr lang="zh-CN" sz="1100" dirty="0">
                <a:solidFill>
                  <a:schemeClr val="dk1"/>
                </a:solidFill>
              </a:rPr>
              <a:t> in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fi</a:t>
            </a:r>
            <a:r>
              <a:rPr lang="en-US" altLang="zh-CN" sz="1100" dirty="0">
                <a:solidFill>
                  <a:schemeClr val="dk1"/>
                </a:solidFill>
              </a:rPr>
              <a:t>r</a:t>
            </a:r>
            <a:r>
              <a:rPr lang="en-US" sz="1100" dirty="0">
                <a:solidFill>
                  <a:schemeClr val="dk1"/>
                </a:solidFill>
              </a:rPr>
              <a:t>st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zh-CN" sz="1100" dirty="0">
                <a:solidFill>
                  <a:schemeClr val="dk1"/>
                </a:solidFill>
              </a:rPr>
              <a:t>o</a:t>
            </a:r>
            <a:r>
              <a:rPr lang="en-US" altLang="zh-CN" sz="1100" dirty="0">
                <a:solidFill>
                  <a:schemeClr val="dk1"/>
                </a:solidFill>
              </a:rPr>
              <a:t>r</a:t>
            </a:r>
            <a:r>
              <a:rPr lang="zh-CN" sz="1100" dirty="0">
                <a:solidFill>
                  <a:schemeClr val="dk1"/>
                </a:solidFill>
              </a:rPr>
              <a:t>d</a:t>
            </a:r>
            <a:r>
              <a:rPr lang="en-US" altLang="zh-CN" sz="1100" dirty="0" err="1">
                <a:solidFill>
                  <a:schemeClr val="dk1"/>
                </a:solidFill>
              </a:rPr>
              <a:t>ers</a:t>
            </a:r>
            <a:endParaRPr lang="en-US" sz="1100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buClr>
                <a:srgbClr val="595959"/>
              </a:buClr>
              <a:buFont typeface="Arial,Sans-Serif"/>
            </a:pPr>
            <a:r>
              <a:rPr lang="en-US" sz="1100" dirty="0">
                <a:solidFill>
                  <a:schemeClr val="dk1"/>
                </a:solidFill>
              </a:rPr>
              <a:t>Habi</a:t>
            </a:r>
            <a:r>
              <a:rPr lang="en-US" altLang="zh-CN" sz="1100" dirty="0">
                <a:solidFill>
                  <a:schemeClr val="dk1"/>
                </a:solidFill>
              </a:rPr>
              <a:t>t</a:t>
            </a:r>
            <a:r>
              <a:rPr lang="en-US" sz="1100" dirty="0">
                <a:solidFill>
                  <a:schemeClr val="dk1"/>
                </a:solidFill>
              </a:rPr>
              <a:t>-</a:t>
            </a:r>
            <a:r>
              <a:rPr lang="en-US" sz="1100" dirty="0" err="1">
                <a:solidFill>
                  <a:schemeClr val="dk1"/>
                </a:solidFill>
              </a:rPr>
              <a:t>b</a:t>
            </a:r>
            <a:r>
              <a:rPr lang="en-US" altLang="zh-CN" sz="1100" dirty="0" err="1">
                <a:solidFill>
                  <a:schemeClr val="dk1"/>
                </a:solidFill>
              </a:rPr>
              <a:t>u</a:t>
            </a:r>
            <a:r>
              <a:rPr lang="en-US" sz="1100" dirty="0" err="1">
                <a:solidFill>
                  <a:schemeClr val="dk1"/>
                </a:solidFill>
              </a:rPr>
              <a:t>i</a:t>
            </a:r>
            <a:r>
              <a:rPr lang="en-US" altLang="zh-CN" sz="1100" dirty="0" err="1">
                <a:solidFill>
                  <a:schemeClr val="dk1"/>
                </a:solidFill>
              </a:rPr>
              <a:t>l</a:t>
            </a:r>
            <a:r>
              <a:rPr lang="zh-CN" sz="1100" dirty="0">
                <a:solidFill>
                  <a:schemeClr val="dk1"/>
                </a:solidFill>
              </a:rPr>
              <a:t>d</a:t>
            </a:r>
            <a:r>
              <a:rPr lang="en-US" altLang="zh-CN" sz="1100" dirty="0" err="1">
                <a:solidFill>
                  <a:schemeClr val="dk1"/>
                </a:solidFill>
              </a:rPr>
              <a:t>ing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for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>
                <a:solidFill>
                  <a:schemeClr val="dk1"/>
                </a:solidFill>
              </a:rPr>
              <a:t>repe</a:t>
            </a:r>
            <a:r>
              <a:rPr lang="en-US" altLang="zh-CN" sz="1100" dirty="0">
                <a:solidFill>
                  <a:schemeClr val="dk1"/>
                </a:solidFill>
              </a:rPr>
              <a:t>a</a:t>
            </a:r>
            <a:r>
              <a:rPr lang="en-US" sz="1100" dirty="0">
                <a:solidFill>
                  <a:schemeClr val="dk1"/>
                </a:solidFill>
              </a:rPr>
              <a:t>t</a:t>
            </a:r>
            <a:r>
              <a:rPr lang="zh-CN" altLang="en-US" sz="1100" dirty="0">
                <a:solidFill>
                  <a:schemeClr val="dk1"/>
                </a:solidFill>
              </a:rPr>
              <a:t> </a:t>
            </a:r>
            <a:r>
              <a:rPr lang="en-US" sz="1100" dirty="0" err="1">
                <a:solidFill>
                  <a:schemeClr val="dk1"/>
                </a:solidFill>
              </a:rPr>
              <a:t>pu</a:t>
            </a:r>
            <a:r>
              <a:rPr lang="en-US" altLang="zh-CN" sz="1100" dirty="0" err="1">
                <a:solidFill>
                  <a:schemeClr val="dk1"/>
                </a:solidFill>
              </a:rPr>
              <a:t>r</a:t>
            </a:r>
            <a:r>
              <a:rPr lang="zh-CN" sz="1100" dirty="0">
                <a:solidFill>
                  <a:schemeClr val="dk1"/>
                </a:solidFill>
              </a:rPr>
              <a:t>c</a:t>
            </a:r>
            <a:r>
              <a:rPr lang="en-US" sz="1100" dirty="0" err="1">
                <a:solidFill>
                  <a:schemeClr val="dk1"/>
                </a:solidFill>
              </a:rPr>
              <a:t>ha</a:t>
            </a:r>
            <a:r>
              <a:rPr lang="en-US" altLang="zh-CN" sz="1100" dirty="0" err="1">
                <a:solidFill>
                  <a:schemeClr val="dk1"/>
                </a:solidFill>
              </a:rPr>
              <a:t>s</a:t>
            </a:r>
            <a:r>
              <a:rPr lang="en-US" sz="1100" dirty="0" err="1">
                <a:solidFill>
                  <a:schemeClr val="dk1"/>
                </a:solidFill>
              </a:rPr>
              <a:t>e</a:t>
            </a:r>
            <a:endParaRPr lang="en-US" dirty="0">
              <a:solidFill>
                <a:schemeClr val="dk1"/>
              </a:solidFill>
            </a:endParaRPr>
          </a:p>
          <a:p>
            <a:pPr indent="-298450">
              <a:lnSpc>
                <a:spcPct val="10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zh-CN" sz="1100" dirty="0">
              <a:solidFill>
                <a:srgbClr val="000000"/>
              </a:solidFill>
            </a:endParaRPr>
          </a:p>
          <a:p>
            <a:pPr marL="457200" marR="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zh-CN" sz="1100" b="1" dirty="0">
              <a:solidFill>
                <a:srgbClr val="C00000"/>
              </a:solidFill>
            </a:endParaRPr>
          </a:p>
          <a:p>
            <a:pPr lvl="0" indent="-298450" algn="l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1100"/>
            </a:pPr>
            <a:endParaRPr lang="zh-CN" altLang="en-US" sz="1100" b="1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buNone/>
            </a:pPr>
            <a:endParaRPr sz="1300" b="1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endParaRPr lang="zh-CN" sz="1100" dirty="0"/>
          </a:p>
        </p:txBody>
      </p:sp>
      <p:pic>
        <p:nvPicPr>
          <p:cNvPr id="106" name="Google Shape;106;p18" title="will_repurchase_shap_summary_user_level_high_potential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59630" y="1073150"/>
            <a:ext cx="4484370" cy="36360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9;p17">
            <a:extLst>
              <a:ext uri="{FF2B5EF4-FFF2-40B4-BE49-F238E27FC236}">
                <a16:creationId xmlns:a16="http://schemas.microsoft.com/office/drawing/2014/main" id="{DF86B551-A7DF-306B-7E79-99D8B382D273}"/>
              </a:ext>
            </a:extLst>
          </p:cNvPr>
          <p:cNvSpPr/>
          <p:nvPr/>
        </p:nvSpPr>
        <p:spPr>
          <a:xfrm>
            <a:off x="4658449" y="1641477"/>
            <a:ext cx="4073196" cy="1705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99;p17">
            <a:extLst>
              <a:ext uri="{FF2B5EF4-FFF2-40B4-BE49-F238E27FC236}">
                <a16:creationId xmlns:a16="http://schemas.microsoft.com/office/drawing/2014/main" id="{98BDF019-90EC-3114-AF21-FAF2630A1015}"/>
              </a:ext>
            </a:extLst>
          </p:cNvPr>
          <p:cNvSpPr/>
          <p:nvPr/>
        </p:nvSpPr>
        <p:spPr>
          <a:xfrm>
            <a:off x="4658451" y="2151193"/>
            <a:ext cx="4083492" cy="2014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65B0618-CEC0-7749-D510-3D5C59F9FC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9" title="will_repurchase_shap_summary_user_level_casual_walk_in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382770" y="1188085"/>
            <a:ext cx="476123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220260" y="10974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37000"/>
              <a:buNone/>
            </a:pPr>
            <a:r>
              <a:rPr lang="zh-CN" sz="2665" b="1">
                <a:solidFill>
                  <a:schemeClr val="lt1"/>
                </a:solidFill>
              </a:rPr>
              <a:t>Monetizing Price-Sensitive Traffic</a:t>
            </a:r>
            <a:endParaRPr sz="2665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zh-CN" sz="2665" b="1">
                <a:solidFill>
                  <a:schemeClr val="lt1"/>
                </a:solidFill>
              </a:rPr>
              <a:t>Casual walk in</a:t>
            </a:r>
            <a:endParaRPr sz="2665" b="1">
              <a:solidFill>
                <a:schemeClr val="lt1"/>
              </a:solidFill>
            </a:endParaRPr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1"/>
          </p:nvPr>
        </p:nvSpPr>
        <p:spPr>
          <a:xfrm>
            <a:off x="220345" y="1188085"/>
            <a:ext cx="4654550" cy="38665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200" b="1" dirty="0">
                <a:solidFill>
                  <a:schemeClr val="dk1"/>
                </a:solidFill>
              </a:rPr>
              <a:t>📌 </a:t>
            </a:r>
            <a:r>
              <a:rPr lang="en-US" altLang="zh-CN" sz="12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Casual Walk-ins Strategy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Low loyalty + high price sensitivity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Promotion-driven, short-term traffic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Goal: </a:t>
            </a:r>
            <a:r>
              <a:rPr lang="zh-CN" sz="1100" b="1" dirty="0">
                <a:solidFill>
                  <a:srgbClr val="C00000"/>
                </a:solidFill>
              </a:rPr>
              <a:t>extract value without heavy investment</a:t>
            </a:r>
            <a:endParaRPr sz="1100" b="1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200" b="1" dirty="0">
                <a:solidFill>
                  <a:schemeClr val="dk1"/>
                </a:solidFill>
              </a:rPr>
              <a:t>📊 </a:t>
            </a:r>
            <a:r>
              <a:rPr lang="en-US" altLang="zh-CN" sz="12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Data Insight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Important signal:</a:t>
            </a:r>
            <a:r>
              <a:rPr lang="zh-CN" sz="1100" b="1" dirty="0">
                <a:solidFill>
                  <a:srgbClr val="C00000"/>
                </a:solidFill>
              </a:rPr>
              <a:t> total_vouchers_used</a:t>
            </a:r>
            <a:endParaRPr sz="1100" b="1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Users come for campaigns or short term need → buy → leave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they are likely to buy just one time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200" b="1" dirty="0">
                <a:solidFill>
                  <a:schemeClr val="dk1"/>
                </a:solidFill>
              </a:rPr>
              <a:t>🎯 </a:t>
            </a:r>
            <a:r>
              <a:rPr lang="en-US" altLang="zh-CN" sz="12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Action:  </a:t>
            </a:r>
            <a:r>
              <a:rPr lang="zh-CN" sz="1100" b="1" dirty="0">
                <a:solidFill>
                  <a:srgbClr val="C00000"/>
                </a:solidFill>
              </a:rPr>
              <a:t>Add-On Limited offer at payment stage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Last-minute upsell at checkout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Low-</a:t>
            </a:r>
            <a:r>
              <a:rPr lang="en-US" altLang="zh-CN" sz="1100" dirty="0">
                <a:solidFill>
                  <a:schemeClr val="dk1"/>
                </a:solidFill>
              </a:rPr>
              <a:t>price</a:t>
            </a:r>
            <a:r>
              <a:rPr lang="zh-CN" sz="1100" dirty="0">
                <a:solidFill>
                  <a:schemeClr val="dk1"/>
                </a:solidFill>
              </a:rPr>
              <a:t>, high-relevance items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 sz="1100" dirty="0">
                <a:solidFill>
                  <a:schemeClr val="dk1"/>
                </a:solidFill>
              </a:rPr>
              <a:t>Examples: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CN" sz="1100" dirty="0">
                <a:solidFill>
                  <a:schemeClr val="dk1"/>
                </a:solidFill>
              </a:rPr>
              <a:t>“Add SGD 1.9 for 2 sample tea bags”</a:t>
            </a:r>
            <a:endParaRPr sz="1100" dirty="0">
              <a:solidFill>
                <a:schemeClr val="dk1"/>
              </a:solidFill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CN" sz="1100" dirty="0">
                <a:solidFill>
                  <a:schemeClr val="dk1"/>
                </a:solidFill>
              </a:rPr>
              <a:t>“Add SGD 3 for portable tea filter”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1200" b="1" dirty="0">
                <a:solidFill>
                  <a:schemeClr val="dk1"/>
                </a:solidFill>
              </a:rPr>
              <a:t>💰 </a:t>
            </a:r>
            <a:r>
              <a:rPr lang="en-US" altLang="zh-CN" sz="1200" b="1" dirty="0">
                <a:solidFill>
                  <a:schemeClr val="dk1"/>
                </a:solidFill>
              </a:rPr>
              <a:t> </a:t>
            </a:r>
            <a:r>
              <a:rPr lang="zh-CN" sz="1300" b="1" dirty="0">
                <a:solidFill>
                  <a:schemeClr val="dk1"/>
                </a:solidFill>
              </a:rPr>
              <a:t>Impact</a:t>
            </a:r>
            <a:endParaRPr sz="1300" b="1" dirty="0">
              <a:solidFill>
                <a:schemeClr val="dk1"/>
              </a:solidFill>
            </a:endParaRPr>
          </a:p>
          <a:p>
            <a:pPr marL="457200" lvl="0" indent="-298450" algn="l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altLang="zh-CN" sz="1100" b="1" dirty="0">
                <a:solidFill>
                  <a:srgbClr val="C00000"/>
                </a:solidFill>
              </a:rPr>
              <a:t>+SGD 7,991 incremental revenue</a:t>
            </a:r>
            <a:endParaRPr lang="en-US" sz="1100" b="1" dirty="0">
              <a:solidFill>
                <a:srgbClr val="C00000"/>
              </a:solidFill>
            </a:endParaRPr>
          </a:p>
        </p:txBody>
      </p:sp>
      <p:sp>
        <p:nvSpPr>
          <p:cNvPr id="3" name="Google Shape;99;p17">
            <a:extLst>
              <a:ext uri="{FF2B5EF4-FFF2-40B4-BE49-F238E27FC236}">
                <a16:creationId xmlns:a16="http://schemas.microsoft.com/office/drawing/2014/main" id="{9647ED4B-7871-F93D-7570-161ACA5B577B}"/>
              </a:ext>
            </a:extLst>
          </p:cNvPr>
          <p:cNvSpPr/>
          <p:nvPr/>
        </p:nvSpPr>
        <p:spPr>
          <a:xfrm>
            <a:off x="4658451" y="2151193"/>
            <a:ext cx="4083492" cy="2014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99;p17">
            <a:extLst>
              <a:ext uri="{FF2B5EF4-FFF2-40B4-BE49-F238E27FC236}">
                <a16:creationId xmlns:a16="http://schemas.microsoft.com/office/drawing/2014/main" id="{B4E1C8C4-FFE1-0262-2E59-17BD70AC4088}"/>
              </a:ext>
            </a:extLst>
          </p:cNvPr>
          <p:cNvSpPr/>
          <p:nvPr/>
        </p:nvSpPr>
        <p:spPr>
          <a:xfrm>
            <a:off x="4383513" y="1654863"/>
            <a:ext cx="4423302" cy="19628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1531AD-DF6B-36BB-787C-DC06EA64AF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45720" y="0"/>
            <a:ext cx="6821805" cy="11290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2200" b="1">
                <a:solidFill>
                  <a:schemeClr val="lt1"/>
                </a:solidFill>
              </a:rPr>
              <a:t>Retention Strategy:</a:t>
            </a:r>
            <a:br>
              <a:rPr lang="zh-CN" sz="2200" b="1">
                <a:solidFill>
                  <a:schemeClr val="lt1"/>
                </a:solidFill>
              </a:rPr>
            </a:br>
            <a:r>
              <a:rPr lang="zh-CN" sz="2200" b="1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The "Addition by Subtraction" Logic</a:t>
            </a:r>
          </a:p>
        </p:txBody>
      </p:sp>
      <p:sp>
        <p:nvSpPr>
          <p:cNvPr id="119" name="Google Shape;119;p20"/>
          <p:cNvSpPr txBox="1"/>
          <p:nvPr/>
        </p:nvSpPr>
        <p:spPr>
          <a:xfrm>
            <a:off x="616585" y="1097280"/>
            <a:ext cx="8016875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b="1" dirty="0">
                <a:solidFill>
                  <a:srgbClr val="C00000"/>
                </a:solidFill>
              </a:rPr>
              <a:t>The Leak:</a:t>
            </a:r>
            <a:r>
              <a:rPr lang="zh-CN" dirty="0">
                <a:solidFill>
                  <a:schemeClr val="dk1"/>
                </a:solidFill>
              </a:rPr>
              <a:t> </a:t>
            </a:r>
            <a:r>
              <a:rPr lang="en-US" altLang="zh-CN" dirty="0">
                <a:solidFill>
                  <a:schemeClr val="dk1"/>
                </a:solidFill>
              </a:rPr>
              <a:t> </a:t>
            </a:r>
            <a:r>
              <a:rPr lang="zh-CN" dirty="0">
                <a:solidFill>
                  <a:schemeClr val="dk1"/>
                </a:solidFill>
              </a:rPr>
              <a:t>Marketing spend on </a:t>
            </a:r>
            <a:r>
              <a:rPr lang="en-US" altLang="zh-CN" b="1" dirty="0">
                <a:solidFill>
                  <a:srgbClr val="C00000"/>
                </a:solidFill>
              </a:rPr>
              <a:t>Low-retention users </a:t>
            </a:r>
            <a:r>
              <a:rPr lang="zh-CN" dirty="0">
                <a:solidFill>
                  <a:schemeClr val="dk1"/>
                </a:solidFill>
              </a:rPr>
              <a:t>leads to </a:t>
            </a:r>
            <a:r>
              <a:rPr lang="zh-CN" b="1" dirty="0">
                <a:solidFill>
                  <a:srgbClr val="C00000"/>
                </a:solidFill>
              </a:rPr>
              <a:t>Negative ROI</a:t>
            </a:r>
            <a:r>
              <a:rPr lang="zh-CN" dirty="0">
                <a:solidFill>
                  <a:schemeClr val="dk1"/>
                </a:solidFill>
              </a:rPr>
              <a:t>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b="1" dirty="0">
                <a:solidFill>
                  <a:srgbClr val="C00000"/>
                </a:solidFill>
              </a:rPr>
              <a:t>The Tool:</a:t>
            </a:r>
            <a:r>
              <a:rPr lang="zh-CN" dirty="0">
                <a:solidFill>
                  <a:schemeClr val="dk1"/>
                </a:solidFill>
              </a:rPr>
              <a:t> </a:t>
            </a:r>
            <a:r>
              <a:rPr lang="en-US" altLang="zh-CN" dirty="0">
                <a:solidFill>
                  <a:schemeClr val="dk1"/>
                </a:solidFill>
              </a:rPr>
              <a:t> </a:t>
            </a:r>
            <a:r>
              <a:rPr lang="zh-CN" b="1" dirty="0">
                <a:solidFill>
                  <a:srgbClr val="C00000"/>
                </a:solidFill>
              </a:rPr>
              <a:t>XGBoost Model</a:t>
            </a:r>
            <a:r>
              <a:rPr lang="zh-CN" dirty="0">
                <a:solidFill>
                  <a:schemeClr val="dk1"/>
                </a:solidFill>
              </a:rPr>
              <a:t> to predict the retention "Tipping Point" for each user.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b="1" dirty="0">
                <a:solidFill>
                  <a:srgbClr val="C00000"/>
                </a:solidFill>
              </a:rPr>
              <a:t>The Pivot:</a:t>
            </a:r>
            <a:r>
              <a:rPr lang="zh-CN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dirty="0">
                <a:solidFill>
                  <a:schemeClr val="dk1"/>
                </a:solidFill>
              </a:rPr>
              <a:t>Terminate investment in non-responsive segments to protect margins.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120" name="Google Shape;120;p20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423283"/>
              </p:ext>
            </p:extLst>
          </p:nvPr>
        </p:nvGraphicFramePr>
        <p:xfrm>
          <a:off x="616585" y="2192752"/>
          <a:ext cx="4624070" cy="1052195"/>
        </p:xfrm>
        <a:graphic>
          <a:graphicData uri="http://schemas.openxmlformats.org/drawingml/2006/table">
            <a:tbl>
              <a:tblPr firstRow="1" bandRow="1">
                <a:noFill/>
                <a:tableStyleId>{D2C9F371-FA0A-45CC-9C24-CDDB537A001E}</a:tableStyleId>
              </a:tblPr>
              <a:tblGrid>
                <a:gridCol w="2132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58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>
                          <a:latin typeface="Calibri"/>
                        </a:rPr>
                        <a:t>Standard Marketing</a:t>
                      </a: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200" dirty="0">
                          <a:latin typeface="Calibri"/>
                        </a:rPr>
                        <a:t>"</a:t>
                      </a:r>
                      <a:r>
                        <a:rPr lang="en-US" altLang="zh-CN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</a:rPr>
                        <a:t>Abandon</a:t>
                      </a:r>
                      <a:r>
                        <a:rPr lang="zh-CN" altLang="en-US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zh-CN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</a:rPr>
                        <a:t>low</a:t>
                      </a:r>
                      <a:r>
                        <a:rPr lang="zh-CN" altLang="en-US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zh-CN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</a:rPr>
                        <a:t>retention</a:t>
                      </a:r>
                      <a:r>
                        <a:rPr lang="zh-CN" altLang="en-US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US" altLang="zh-CN" sz="120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ea typeface="宋体"/>
                        </a:rPr>
                        <a:t>users</a:t>
                      </a:r>
                      <a:r>
                        <a:rPr lang="zh-CN" sz="1200" dirty="0">
                          <a:latin typeface="Calibri"/>
                        </a:rPr>
                        <a:t>"</a:t>
                      </a: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100">
                          <a:latin typeface="Calibri"/>
                        </a:rPr>
                        <a:t>Focus: Reach &amp; Volume</a:t>
                      </a: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100">
                          <a:latin typeface="Calibri"/>
                        </a:rPr>
                        <a:t>Focus: Quality &amp; ROI</a:t>
                      </a: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0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>
                          <a:latin typeface="Calibri"/>
                        </a:rPr>
                        <a:t>Net revenue: $ -1,361</a:t>
                      </a:r>
                      <a:endParaRPr lang="zh-CN" sz="110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 dirty="0">
                          <a:latin typeface="Calibri"/>
                        </a:rPr>
                        <a:t>Net revenue</a:t>
                      </a:r>
                      <a:r>
                        <a:rPr lang="zh-CN" sz="1100" dirty="0">
                          <a:latin typeface="Calibri"/>
                        </a:rPr>
                        <a:t>: $</a:t>
                      </a:r>
                      <a:r>
                        <a:rPr lang="en-US" altLang="zh-CN" sz="1100" dirty="0">
                          <a:latin typeface="Calibri"/>
                        </a:rPr>
                        <a:t>2,061</a:t>
                      </a:r>
                      <a:endParaRPr lang="zh-CN" sz="1100" dirty="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1" name="Google Shape;121;p20"/>
          <p:cNvSpPr txBox="1"/>
          <p:nvPr/>
        </p:nvSpPr>
        <p:spPr>
          <a:xfrm>
            <a:off x="245110" y="4059555"/>
            <a:ext cx="8668385" cy="920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b="1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  </a:t>
            </a:r>
            <a:r>
              <a:rPr lang="zh-CN" sz="1800" b="1">
                <a:solidFill>
                  <a:srgbClr val="C00000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Precision &gt; Scale.</a:t>
            </a:r>
            <a:r>
              <a:rPr lang="zh-CN" sz="1800" b="1"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 </a:t>
            </a:r>
          </a:p>
          <a:p>
            <a:pPr marL="0" lvl="0" indent="0" algn="l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/>
              <a:t>   </a:t>
            </a:r>
            <a:r>
              <a:rPr lang="zh-CN" b="1"/>
              <a:t>By filtering out negative-ROI users, we didn't just </a:t>
            </a:r>
            <a:r>
              <a:rPr lang="zh-CN" b="1">
                <a:solidFill>
                  <a:srgbClr val="C00000"/>
                </a:solidFill>
              </a:rPr>
              <a:t>save budget</a:t>
            </a:r>
            <a:r>
              <a:rPr lang="zh-CN" b="1"/>
              <a:t>—we </a:t>
            </a:r>
            <a:r>
              <a:rPr lang="zh-CN" b="1">
                <a:solidFill>
                  <a:srgbClr val="C00000"/>
                </a:solidFill>
              </a:rPr>
              <a:t>optimized the entire</a:t>
            </a:r>
            <a:r>
              <a:rPr lang="zh-CN" b="1"/>
              <a:t> </a:t>
            </a:r>
            <a:r>
              <a:rPr lang="en-US" altLang="zh-CN" b="1"/>
              <a:t>revenue</a:t>
            </a:r>
            <a:r>
              <a:rPr lang="zh-CN" b="1"/>
              <a:t>.</a:t>
            </a:r>
          </a:p>
        </p:txBody>
      </p:sp>
      <p:pic>
        <p:nvPicPr>
          <p:cNvPr id="122" name="Google Shape;122;p20" title="{&quot;red&quot;:0,&quot;green&quot;:0,&quot;blue&quot;:0,&quot;origURL&quot;:&quot;https://www.codecogs.com/eqnedit.php?latex=%5Ctext%7BNet%20Profit%7D%20%3D%20%5Csum%20(%5Ctext%7BRevenue%7D%20-%20%5Ctext%7BMarketing%20Cost%7D)%20%5Ctext%7B%20where%20ROI%7D%20%3E%200#0&quot;,&quot;size&quot;:14,&quot;width&quot;:300.4488188976378,&quot;height&quot;:51.023622047244096}"/>
          <p:cNvPicPr preferRelativeResize="0"/>
          <p:nvPr/>
        </p:nvPicPr>
        <p:blipFill>
          <a:blip r:embed="rId4"/>
          <a:srcRect r="24866" b="-256"/>
          <a:stretch>
            <a:fillRect/>
          </a:stretch>
        </p:blipFill>
        <p:spPr>
          <a:xfrm>
            <a:off x="1732297" y="3708343"/>
            <a:ext cx="5055832" cy="347108"/>
          </a:xfrm>
          <a:prstGeom prst="rect">
            <a:avLst/>
          </a:prstGeom>
          <a:noFill/>
          <a:ln>
            <a:noFill/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E2E727B-878A-0F47-3FF5-743025DA70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876" y="2021205"/>
            <a:ext cx="2374877" cy="151559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7287D55-6FF5-B632-43B1-4B876B0E33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-200" y="859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45" b="1">
                <a:solidFill>
                  <a:schemeClr val="lt1"/>
                </a:solidFill>
              </a:rPr>
              <a:t>Conclusion: </a:t>
            </a:r>
            <a:br>
              <a:rPr lang="zh-CN" sz="2445" b="1">
                <a:solidFill>
                  <a:schemeClr val="lt1"/>
                </a:solidFill>
              </a:rPr>
            </a:br>
            <a:r>
              <a:rPr lang="zh-CN" sz="2445" b="1">
                <a:solidFill>
                  <a:schemeClr val="lt1"/>
                </a:solidFill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From "Volume-Driven" to "Value-Driven" Growth</a:t>
            </a:r>
          </a:p>
        </p:txBody>
      </p:sp>
      <p:sp>
        <p:nvSpPr>
          <p:cNvPr id="128" name="Google Shape;128;p21"/>
          <p:cNvSpPr txBox="1">
            <a:spLocks noGrp="1"/>
          </p:cNvSpPr>
          <p:nvPr>
            <p:ph type="body" idx="1"/>
          </p:nvPr>
        </p:nvSpPr>
        <p:spPr>
          <a:xfrm>
            <a:off x="41076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b="1" dirty="0">
                <a:solidFill>
                  <a:schemeClr val="dk1"/>
                </a:solidFill>
              </a:rPr>
              <a:t>Pillar 1: </a:t>
            </a:r>
            <a:r>
              <a:rPr lang="zh-CN" b="1" dirty="0">
                <a:solidFill>
                  <a:srgbClr val="C00000"/>
                </a:solidFill>
              </a:rPr>
              <a:t>Deep Insight</a:t>
            </a:r>
            <a:endParaRPr b="1" dirty="0">
              <a:solidFill>
                <a:srgbClr val="C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600" b="1" dirty="0">
                <a:solidFill>
                  <a:schemeClr val="dk1"/>
                </a:solidFill>
              </a:rPr>
              <a:t>Action:</a:t>
            </a:r>
            <a:r>
              <a:rPr lang="zh-CN" sz="1600" dirty="0">
                <a:solidFill>
                  <a:schemeClr val="dk1"/>
                </a:solidFill>
              </a:rPr>
              <a:t> 3 Distinct Profiles via RFM &amp; SHAP.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600" b="1" dirty="0">
                <a:solidFill>
                  <a:schemeClr val="dk1"/>
                </a:solidFill>
              </a:rPr>
              <a:t>Takeaway:</a:t>
            </a:r>
            <a:r>
              <a:rPr lang="zh-CN" sz="1600" dirty="0">
                <a:solidFill>
                  <a:schemeClr val="dk1"/>
                </a:solidFill>
              </a:rPr>
              <a:t> We stopped treating all users the same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b="1" dirty="0">
                <a:solidFill>
                  <a:schemeClr val="dk1"/>
                </a:solidFill>
              </a:rPr>
              <a:t>Pillar 2: </a:t>
            </a:r>
            <a:r>
              <a:rPr lang="zh-CN" b="1" dirty="0">
                <a:solidFill>
                  <a:srgbClr val="C00000"/>
                </a:solidFill>
              </a:rPr>
              <a:t>Revenue Uplift</a:t>
            </a:r>
            <a:r>
              <a:rPr lang="zh-CN" sz="1600" b="1" dirty="0">
                <a:solidFill>
                  <a:schemeClr val="dk1"/>
                </a:solidFill>
              </a:rPr>
              <a:t> </a:t>
            </a:r>
            <a:endParaRPr sz="1600" b="1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CN" sz="1600" b="1" dirty="0">
                <a:solidFill>
                  <a:schemeClr val="dk1"/>
                </a:solidFill>
              </a:rPr>
              <a:t>Action:</a:t>
            </a:r>
            <a:r>
              <a:rPr lang="zh-CN" sz="1600" dirty="0">
                <a:solidFill>
                  <a:schemeClr val="dk1"/>
                </a:solidFill>
              </a:rPr>
              <a:t> Tailore</a:t>
            </a:r>
            <a:r>
              <a:rPr lang="en-US" altLang="zh-CN" sz="1600" dirty="0">
                <a:solidFill>
                  <a:schemeClr val="dk1"/>
                </a:solidFill>
              </a:rPr>
              <a:t>d AOV </a:t>
            </a:r>
            <a:r>
              <a:rPr lang="zh-CN" sz="1600" dirty="0">
                <a:solidFill>
                  <a:schemeClr val="dk1"/>
                </a:solidFill>
              </a:rPr>
              <a:t>Strategies (Threshold / Bundle / Add-on).</a:t>
            </a:r>
            <a:endParaRPr lang="en-US" sz="16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altLang="zh-CN" sz="1600" b="1" dirty="0">
                <a:solidFill>
                  <a:schemeClr val="dk1"/>
                </a:solidFill>
              </a:rPr>
              <a:t>Takeaway:</a:t>
            </a:r>
            <a:r>
              <a:rPr lang="en-US" altLang="zh-CN" sz="1600" dirty="0">
                <a:solidFill>
                  <a:schemeClr val="dk1"/>
                </a:solidFill>
              </a:rPr>
              <a:t> Maximized wallet share for every segment.</a:t>
            </a:r>
            <a:endParaRPr lang="en-US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b="1" dirty="0">
                <a:solidFill>
                  <a:schemeClr val="dk1"/>
                </a:solidFill>
              </a:rPr>
              <a:t>Pillar 3: </a:t>
            </a:r>
            <a:r>
              <a:rPr lang="zh-CN" b="1" dirty="0">
                <a:solidFill>
                  <a:srgbClr val="C00000"/>
                </a:solidFill>
              </a:rPr>
              <a:t>Smart Efficiency</a:t>
            </a:r>
            <a:endParaRPr b="1" dirty="0">
              <a:solidFill>
                <a:schemeClr val="dk1"/>
              </a:solidFill>
            </a:endParaRPr>
          </a:p>
          <a:p>
            <a:pPr indent="-311150">
              <a:spcBef>
                <a:spcPts val="1200"/>
              </a:spcBef>
              <a:buClr>
                <a:schemeClr val="dk1"/>
              </a:buClr>
              <a:buSzPts val="1300"/>
            </a:pPr>
            <a:r>
              <a:rPr lang="zh-CN" sz="1600" b="1" dirty="0">
                <a:solidFill>
                  <a:schemeClr val="dk1"/>
                </a:solidFill>
              </a:rPr>
              <a:t>Action:</a:t>
            </a:r>
            <a:r>
              <a:rPr lang="zh-CN" sz="1600" dirty="0">
                <a:solidFill>
                  <a:schemeClr val="dk1"/>
                </a:solidFill>
              </a:rPr>
              <a:t> "</a:t>
            </a:r>
            <a:r>
              <a:rPr lang="en-US" altLang="zh-CN" sz="1600" dirty="0">
                <a:solidFill>
                  <a:schemeClr val="dk1"/>
                </a:solidFill>
              </a:rPr>
              <a:t>Abandon</a:t>
            </a:r>
            <a:r>
              <a:rPr lang="zh-CN" altLang="en-US" sz="1600" dirty="0">
                <a:solidFill>
                  <a:schemeClr val="dk1"/>
                </a:solidFill>
              </a:rPr>
              <a:t> </a:t>
            </a:r>
            <a:r>
              <a:rPr lang="en-US" altLang="zh-CN" sz="1600" dirty="0">
                <a:solidFill>
                  <a:schemeClr val="dk1"/>
                </a:solidFill>
              </a:rPr>
              <a:t>low</a:t>
            </a:r>
            <a:r>
              <a:rPr lang="zh-CN" altLang="en-US" sz="1600" dirty="0">
                <a:solidFill>
                  <a:schemeClr val="dk1"/>
                </a:solidFill>
              </a:rPr>
              <a:t> </a:t>
            </a:r>
            <a:r>
              <a:rPr lang="en-US" altLang="zh-CN" sz="1600" dirty="0">
                <a:solidFill>
                  <a:schemeClr val="dk1"/>
                </a:solidFill>
              </a:rPr>
              <a:t>retention</a:t>
            </a:r>
            <a:r>
              <a:rPr lang="zh-CN" altLang="en-US" sz="1600" dirty="0">
                <a:solidFill>
                  <a:schemeClr val="dk1"/>
                </a:solidFill>
              </a:rPr>
              <a:t> </a:t>
            </a:r>
            <a:r>
              <a:rPr lang="en-US" altLang="zh-CN" sz="1600" dirty="0">
                <a:solidFill>
                  <a:schemeClr val="dk1"/>
                </a:solidFill>
              </a:rPr>
              <a:t>users</a:t>
            </a:r>
            <a:r>
              <a:rPr lang="zh-CN" sz="1600" dirty="0">
                <a:solidFill>
                  <a:schemeClr val="dk1"/>
                </a:solidFill>
              </a:rPr>
              <a:t>" (Smart Retention).</a:t>
            </a:r>
            <a:endParaRPr sz="1600" dirty="0">
              <a:solidFill>
                <a:schemeClr val="dk1"/>
              </a:solidFill>
            </a:endParaRPr>
          </a:p>
          <a:p>
            <a:pPr lvl="0" indent="-311150">
              <a:buClr>
                <a:schemeClr val="dk1"/>
              </a:buClr>
              <a:buSzPts val="1300"/>
            </a:pPr>
            <a:r>
              <a:rPr lang="zh-CN" sz="1600" b="1" dirty="0">
                <a:solidFill>
                  <a:schemeClr val="dk1"/>
                </a:solidFill>
              </a:rPr>
              <a:t>Takeaway:</a:t>
            </a:r>
            <a:r>
              <a:rPr lang="zh-CN" sz="1600" dirty="0">
                <a:solidFill>
                  <a:schemeClr val="dk1"/>
                </a:solidFill>
              </a:rPr>
              <a:t> </a:t>
            </a:r>
            <a:r>
              <a:rPr lang="en-US" altLang="zh-CN" sz="1600" dirty="0">
                <a:solidFill>
                  <a:schemeClr val="dk1"/>
                </a:solidFill>
              </a:rPr>
              <a:t>We turned net loss into net revenue</a:t>
            </a:r>
            <a:r>
              <a:rPr lang="en-US" altLang="zh-CN" sz="1600" dirty="0"/>
              <a:t>.</a:t>
            </a:r>
            <a:endParaRPr lang="en-US"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C65E416-61EF-199C-15DB-004959EA5C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37" descr="这个挺好，把背景抠给我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7"/>
          <p:cNvSpPr txBox="1"/>
          <p:nvPr/>
        </p:nvSpPr>
        <p:spPr>
          <a:xfrm>
            <a:off x="2791800" y="2063725"/>
            <a:ext cx="4245300" cy="18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100" b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THANK YOU！</a:t>
            </a:r>
            <a:endParaRPr sz="5100" b="1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6B57314-3D79-D36A-B4DD-1464D9F419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DCBD6C9F-DF46-E36A-18DD-893470D9A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>
            <a:extLst>
              <a:ext uri="{FF2B5EF4-FFF2-40B4-BE49-F238E27FC236}">
                <a16:creationId xmlns:a16="http://schemas.microsoft.com/office/drawing/2014/main" id="{7A4F2AB8-6777-02EC-046E-F912312940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0" y="859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sz="2400" b="1" dirty="0">
                <a:solidFill>
                  <a:schemeClr val="lt1"/>
                </a:solidFill>
              </a:rPr>
              <a:t>Appendix </a:t>
            </a:r>
            <a:br>
              <a:rPr lang="zh-CN" altLang="en-US" sz="2400" b="1" dirty="0">
                <a:solidFill>
                  <a:schemeClr val="lt1"/>
                </a:solidFill>
              </a:rPr>
            </a:br>
            <a:r>
              <a:rPr lang="zh-CN" altLang="en-US" sz="2400" b="1">
                <a:solidFill>
                  <a:schemeClr val="lt1"/>
                </a:solidFill>
              </a:rPr>
              <a:t>AOV Strategy </a:t>
            </a:r>
            <a:r>
              <a:rPr lang="en-US" altLang="zh-CN" sz="2400" b="1" dirty="0">
                <a:solidFill>
                  <a:schemeClr val="lt1"/>
                </a:solidFill>
              </a:rPr>
              <a:t>Variable Setting</a:t>
            </a:r>
            <a:r>
              <a:rPr lang="zh-CN" altLang="en-US" sz="2400" b="1" dirty="0">
                <a:solidFill>
                  <a:schemeClr val="lt1"/>
                </a:solidFill>
              </a:rPr>
              <a:t>：</a:t>
            </a:r>
            <a:br>
              <a:rPr lang="zh-CN" altLang="en-US" sz="2400" b="1" dirty="0">
                <a:solidFill>
                  <a:schemeClr val="lt1"/>
                </a:solidFill>
              </a:rPr>
            </a:br>
            <a:endParaRPr lang="zh-CN" altLang="en-US" sz="2400" b="1" dirty="0">
              <a:solidFill>
                <a:schemeClr val="lt1"/>
              </a:solidFill>
            </a:endParaRPr>
          </a:p>
        </p:txBody>
      </p:sp>
      <p:sp>
        <p:nvSpPr>
          <p:cNvPr id="128" name="Google Shape;128;p21">
            <a:extLst>
              <a:ext uri="{FF2B5EF4-FFF2-40B4-BE49-F238E27FC236}">
                <a16:creationId xmlns:a16="http://schemas.microsoft.com/office/drawing/2014/main" id="{19B27B4D-FB94-D0A0-80F5-B9F14BABE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0760" y="1429737"/>
            <a:ext cx="8526258" cy="31391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1600">
                <a:solidFill>
                  <a:schemeClr val="tx1"/>
                </a:solidFill>
              </a:rPr>
              <a:t>AOV uplift strategy: </a:t>
            </a:r>
            <a:endParaRPr lang="zh-CN" alt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altLang="zh-CN" sz="1600" dirty="0">
              <a:solidFill>
                <a:schemeClr val="tx1"/>
              </a:solidFill>
            </a:endParaRPr>
          </a:p>
        </p:txBody>
      </p:sp>
      <p:pic>
        <p:nvPicPr>
          <p:cNvPr id="2" name="图片 1" descr="图表, 条形图&#10;&#10;AI 生成的内容可能不正确。">
            <a:extLst>
              <a:ext uri="{FF2B5EF4-FFF2-40B4-BE49-F238E27FC236}">
                <a16:creationId xmlns:a16="http://schemas.microsoft.com/office/drawing/2014/main" id="{93A5AC6E-9A5A-1A42-29F0-3F363D5E42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50" b="2045"/>
          <a:stretch>
            <a:fillRect/>
          </a:stretch>
        </p:blipFill>
        <p:spPr>
          <a:xfrm>
            <a:off x="4574546" y="1429192"/>
            <a:ext cx="4109085" cy="2513576"/>
          </a:xfrm>
          <a:prstGeom prst="rect">
            <a:avLst/>
          </a:prstGeom>
        </p:spPr>
      </p:pic>
      <p:graphicFrame>
        <p:nvGraphicFramePr>
          <p:cNvPr id="4" name="Google Shape;120;p20">
            <a:extLst>
              <a:ext uri="{FF2B5EF4-FFF2-40B4-BE49-F238E27FC236}">
                <a16:creationId xmlns:a16="http://schemas.microsoft.com/office/drawing/2014/main" id="{F8C74C61-8657-71E1-260B-FFFFB49DBEBA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665032"/>
              </p:ext>
            </p:extLst>
          </p:nvPr>
        </p:nvGraphicFramePr>
        <p:xfrm>
          <a:off x="410870" y="2071074"/>
          <a:ext cx="3475683" cy="1217368"/>
        </p:xfrm>
        <a:graphic>
          <a:graphicData uri="http://schemas.openxmlformats.org/drawingml/2006/table">
            <a:tbl>
              <a:tblPr firstRow="1" bandRow="1">
                <a:noFill/>
                <a:tableStyleId>{D2C9F371-FA0A-45CC-9C24-CDDB537A001E}</a:tableStyleId>
              </a:tblPr>
              <a:tblGrid>
                <a:gridCol w="899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316">
                  <a:extLst>
                    <a:ext uri="{9D8B030D-6E8A-4147-A177-3AD203B41FA5}">
                      <a16:colId xmlns:a16="http://schemas.microsoft.com/office/drawing/2014/main" val="2133824425"/>
                    </a:ext>
                  </a:extLst>
                </a:gridCol>
                <a:gridCol w="901316">
                  <a:extLst>
                    <a:ext uri="{9D8B030D-6E8A-4147-A177-3AD203B41FA5}">
                      <a16:colId xmlns:a16="http://schemas.microsoft.com/office/drawing/2014/main" val="2929434083"/>
                    </a:ext>
                  </a:extLst>
                </a:gridCol>
              </a:tblGrid>
              <a:tr h="38165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1200" b="0" i="0" u="none" strike="noStrike" noProof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Golden</a:t>
                      </a:r>
                      <a:r>
                        <a:rPr lang="zh-CN" altLang="en-US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  <a:ea typeface="宋体"/>
                        </a:rPr>
                        <a:t> </a:t>
                      </a:r>
                      <a:r>
                        <a:rPr lang="en-US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Wh</a:t>
                      </a:r>
                      <a:r>
                        <a:rPr lang="en-US" altLang="zh-CN" sz="1200" b="1" i="0" u="none" strike="noStrike" noProof="0">
                          <a:solidFill>
                            <a:schemeClr val="tx1"/>
                          </a:solidFill>
                          <a:latin typeface="Arial"/>
                          <a:ea typeface="宋体"/>
                        </a:rPr>
                        <a:t>a</a:t>
                      </a:r>
                      <a:r>
                        <a:rPr lang="en-US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l</a:t>
                      </a:r>
                      <a:r>
                        <a:rPr lang="en-US" altLang="zh-CN" sz="1200" b="1" i="0" u="none" strike="noStrike" noProof="0">
                          <a:solidFill>
                            <a:schemeClr val="tx1"/>
                          </a:solidFill>
                          <a:latin typeface="Arial"/>
                          <a:ea typeface="宋体"/>
                        </a:rPr>
                        <a:t>e</a:t>
                      </a:r>
                      <a:r>
                        <a:rPr lang="en-US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s</a:t>
                      </a:r>
                      <a:endParaRPr lang="zh-CN" altLang="en-US" sz="1200" b="1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>
                          <a:latin typeface="Calibri"/>
                        </a:rPr>
                        <a:t>High potential</a:t>
                      </a:r>
                      <a:endParaRPr lang="zh-CN" sz="1200" dirty="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</a:lnL>
                    <a:lnR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C000"/>
                      </a:solidFill>
                    </a:lnT>
                    <a:lnB w="19050">
                      <a:solidFill>
                        <a:srgbClr val="FFC000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>
                          <a:latin typeface="Calibri"/>
                        </a:rPr>
                        <a:t>Casual walk-ins</a:t>
                      </a:r>
                      <a:endParaRPr lang="en-US" altLang="zh-CN" sz="1200" dirty="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</a:lnL>
                    <a:lnR w="19050">
                      <a:solidFill>
                        <a:srgbClr val="FFC000"/>
                      </a:solidFill>
                    </a:lnR>
                    <a:lnT w="19050">
                      <a:solidFill>
                        <a:srgbClr val="FFC000"/>
                      </a:solidFill>
                    </a:lnT>
                    <a:lnB w="19050">
                      <a:solidFill>
                        <a:srgbClr val="FFC000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663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revenu</a:t>
                      </a:r>
                      <a:r>
                        <a:rPr lang="zh-CN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e</a:t>
                      </a:r>
                      <a:r>
                        <a:rPr lang="zh-CN" altLang="en-US" sz="1200" b="1" i="0" u="none" strike="noStrike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en-US" altLang="zh-CN" sz="1200" b="1" i="0" u="none" strike="noStrike" noProof="0">
                          <a:solidFill>
                            <a:schemeClr val="tx1"/>
                          </a:solidFill>
                          <a:latin typeface="Arial"/>
                        </a:rPr>
                        <a:t>uplift</a:t>
                      </a:r>
                      <a:endParaRPr lang="zh-CN" sz="1200" b="1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>
                      <a:solidFill>
                        <a:srgbClr val="FFC000"/>
                      </a:solidFill>
                      <a:prstDash val="soli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>
                          <a:latin typeface="Calibri"/>
                        </a:rPr>
                        <a:t>10%</a:t>
                      </a:r>
                      <a:endParaRPr lang="zh-CN" sz="1100" dirty="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  <a:prstDash val="solid"/>
                    </a:lnL>
                    <a:lnR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C000"/>
                      </a:solidFill>
                      <a:prstDash val="solid"/>
                    </a:lnT>
                    <a:lnB w="19050">
                      <a:solidFill>
                        <a:srgbClr val="FFC000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>
                          <a:latin typeface="Calibri"/>
                        </a:rPr>
                        <a:t>15%</a:t>
                      </a:r>
                      <a:endParaRPr lang="zh-CN" sz="1100" dirty="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</a:lnL>
                    <a:lnR w="190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FFC000"/>
                      </a:solidFill>
                    </a:lnT>
                    <a:lnB w="19050">
                      <a:solidFill>
                        <a:srgbClr val="FFC000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100">
                          <a:latin typeface="Calibri"/>
                        </a:rPr>
                        <a:t>30%</a:t>
                      </a:r>
                      <a:endParaRPr lang="zh-CN" sz="1100" dirty="0">
                        <a:latin typeface="Calibri"/>
                      </a:endParaRPr>
                    </a:p>
                  </a:txBody>
                  <a:tcPr marL="114300" marR="114300" marT="76200" marB="76200" anchor="ctr">
                    <a:lnL w="19050">
                      <a:solidFill>
                        <a:srgbClr val="FFC000"/>
                      </a:solidFill>
                    </a:lnL>
                    <a:lnR w="19050">
                      <a:solidFill>
                        <a:srgbClr val="FFC000"/>
                      </a:solidFill>
                    </a:lnR>
                    <a:lnT w="19050">
                      <a:solidFill>
                        <a:srgbClr val="FFC000"/>
                      </a:solidFill>
                    </a:lnT>
                    <a:lnB w="19050">
                      <a:solidFill>
                        <a:srgbClr val="FFC000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79496BC-EFD0-3B66-C3EB-53654AD567BD}"/>
              </a:ext>
            </a:extLst>
          </p:cNvPr>
          <p:cNvSpPr txBox="1"/>
          <p:nvPr/>
        </p:nvSpPr>
        <p:spPr>
          <a:xfrm>
            <a:off x="2213517" y="2418326"/>
            <a:ext cx="4620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>
                <a:effectLst/>
              </a:rPr>
              <a:t> 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22EA0E-57B3-A5EC-0906-FB9CFD1C1B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40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CF87E7D-734F-53E6-B598-57F7E67B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>
            <a:extLst>
              <a:ext uri="{FF2B5EF4-FFF2-40B4-BE49-F238E27FC236}">
                <a16:creationId xmlns:a16="http://schemas.microsoft.com/office/drawing/2014/main" id="{F8698A7A-3C23-AA84-86E3-EA73D43125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00" y="8599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sz="2400" b="1" dirty="0">
                <a:solidFill>
                  <a:schemeClr val="lt1"/>
                </a:solidFill>
              </a:rPr>
              <a:t>Appendix </a:t>
            </a:r>
            <a:br>
              <a:rPr lang="zh-CN" altLang="en-US" sz="2400" b="1" dirty="0">
                <a:solidFill>
                  <a:schemeClr val="lt1"/>
                </a:solidFill>
              </a:rPr>
            </a:br>
            <a:r>
              <a:rPr lang="zh-CN" altLang="en-US" sz="2400" b="1">
                <a:solidFill>
                  <a:schemeClr val="lt1"/>
                </a:solidFill>
              </a:rPr>
              <a:t>How We Calculate User Retention Rate：</a:t>
            </a:r>
            <a:br>
              <a:rPr lang="zh-CN" altLang="en-US" sz="2400" b="1" dirty="0">
                <a:solidFill>
                  <a:schemeClr val="lt1"/>
                </a:solidFill>
              </a:rPr>
            </a:br>
            <a:endParaRPr lang="zh-CN" altLang="en-US" sz="2400" b="1" dirty="0">
              <a:solidFill>
                <a:schemeClr val="lt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122DA3-3A6C-2ABF-996E-0E52398AB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82" y="1153138"/>
            <a:ext cx="7814272" cy="3420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A6BF7-B51F-5CB7-B287-9D5E74FDA0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altLang="zh-CN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314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53008,5000004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gJTIPPebpo6irFSQqHl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98*197"/>
  <p:tag name="TABLE_ENDDRAG_RECT" val="16*125*498*19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4*104"/>
  <p:tag name="TABLE_ENDDRAG_RECT" val="157*168*364*10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4*104"/>
  <p:tag name="TABLE_ENDDRAG_RECT" val="157*168*364*104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1147</Words>
  <Application>Microsoft Office PowerPoint</Application>
  <PresentationFormat>全屏显示(16:9)</PresentationFormat>
  <Paragraphs>170</Paragraphs>
  <Slides>13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Arial,Sans-Serif</vt:lpstr>
      <vt:lpstr>宋体</vt:lpstr>
      <vt:lpstr>Arial</vt:lpstr>
      <vt:lpstr>Calibri</vt:lpstr>
      <vt:lpstr>Segoe UI</vt:lpstr>
      <vt:lpstr>Simple Light</vt:lpstr>
      <vt:lpstr>think-cell Slide</vt:lpstr>
      <vt:lpstr>BS6206 Experiential Data Science Group 2​ Final Presentation</vt:lpstr>
      <vt:lpstr>Content</vt:lpstr>
      <vt:lpstr>QLab Tea:  An Emerging Player in a Growing Asia Market</vt:lpstr>
      <vt:lpstr>Executive Summary:  Data-Driven Precision Marketing Yields Revenue Growth</vt:lpstr>
      <vt:lpstr>Identifying 3 Distinct User Profiles via RFM &amp; K-Means Clustering</vt:lpstr>
      <vt:lpstr>Maximizing Value for loyal customers Golden whales</vt:lpstr>
      <vt:lpstr>Converting Potential into Loyalty High potential</vt:lpstr>
      <vt:lpstr>Monetizing Price-Sensitive Traffic Casual walk in</vt:lpstr>
      <vt:lpstr>Retention Strategy: The "Addition by Subtraction" Logic</vt:lpstr>
      <vt:lpstr>Conclusion:  From "Volume-Driven" to "Value-Driven" Growth</vt:lpstr>
      <vt:lpstr>PowerPoint 演示文稿</vt:lpstr>
      <vt:lpstr>Appendix  AOV Strategy Variable Setting： </vt:lpstr>
      <vt:lpstr>Appendix  How We Calculate User Retention Rate：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LVdougao</dc:creator>
  <cp:lastModifiedBy>#LI DONGHAO#</cp:lastModifiedBy>
  <cp:revision>759</cp:revision>
  <dcterms:created xsi:type="dcterms:W3CDTF">2026-02-10T09:46:07Z</dcterms:created>
  <dcterms:modified xsi:type="dcterms:W3CDTF">2026-02-12T15:36:34Z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CE091F52F93D48D8BD236C56018350BD_13</vt:lpwstr>
  </property>
</Properties>
</file>